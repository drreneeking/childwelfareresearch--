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1371600"/>
            <a:ext cx="1033272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WHITNEY M. YOUNG, JR. SCHOOL OF SOCIAL WORK · CLARK ATLANTA UNIVERSITY</a:t>
            </a:r>
          </a:p>
        </p:txBody>
      </p:sp>
      <p:sp>
        <p:nvSpPr>
          <p:cNvPr id="3" name="TextBox 2"/>
          <p:cNvSpPr txBox="1"/>
          <p:nvPr/>
        </p:nvSpPr>
        <p:spPr>
          <a:xfrm>
            <a:off x="914400" y="1965960"/>
            <a:ext cx="10332720" cy="1005840"/>
          </a:xfrm>
          <a:prstGeom prst="rect">
            <a:avLst/>
          </a:prstGeom>
          <a:noFill/>
        </p:spPr>
        <p:txBody>
          <a:bodyPr wrap="square" anchor="t" lIns="0" rIns="0" tIns="0" bIns="0">
            <a:spAutoFit/>
          </a:bodyPr>
          <a:lstStyle/>
          <a:p>
            <a:pPr algn="l">
              <a:lnSpc>
                <a:spcPct val="115000"/>
              </a:lnSpc>
            </a:pPr>
            <a:r>
              <a:rPr sz="4000" b="1" i="0">
                <a:solidFill>
                  <a:srgbClr val="FFFFFF"/>
                </a:solidFill>
                <a:latin typeface="Cambria"/>
              </a:rPr>
              <a:t>CUSW 403 — Practice Competency I</a:t>
            </a:r>
          </a:p>
        </p:txBody>
      </p:sp>
      <p:sp>
        <p:nvSpPr>
          <p:cNvPr id="4" name="TextBox 3"/>
          <p:cNvSpPr txBox="1"/>
          <p:nvPr/>
        </p:nvSpPr>
        <p:spPr>
          <a:xfrm>
            <a:off x="914400" y="2926080"/>
            <a:ext cx="10332720" cy="457200"/>
          </a:xfrm>
          <a:prstGeom prst="rect">
            <a:avLst/>
          </a:prstGeom>
          <a:noFill/>
        </p:spPr>
        <p:txBody>
          <a:bodyPr wrap="square" anchor="t" lIns="0" rIns="0" tIns="0" bIns="0">
            <a:spAutoFit/>
          </a:bodyPr>
          <a:lstStyle/>
          <a:p>
            <a:pPr algn="l">
              <a:lnSpc>
                <a:spcPct val="115000"/>
              </a:lnSpc>
            </a:pPr>
            <a:r>
              <a:rPr sz="2000" b="1" i="0">
                <a:solidFill>
                  <a:srgbClr val="FF8A96"/>
                </a:solidFill>
                <a:latin typeface="Calibri"/>
              </a:rPr>
              <a:t>Module 3 · Week 3</a:t>
            </a:r>
          </a:p>
        </p:txBody>
      </p:sp>
      <p:sp>
        <p:nvSpPr>
          <p:cNvPr id="5" name="TextBox 4"/>
          <p:cNvSpPr txBox="1"/>
          <p:nvPr/>
        </p:nvSpPr>
        <p:spPr>
          <a:xfrm>
            <a:off x="914400" y="3429000"/>
            <a:ext cx="10332720" cy="822960"/>
          </a:xfrm>
          <a:prstGeom prst="rect">
            <a:avLst/>
          </a:prstGeom>
          <a:noFill/>
        </p:spPr>
        <p:txBody>
          <a:bodyPr wrap="square" anchor="t" lIns="0" rIns="0" tIns="0" bIns="0">
            <a:spAutoFit/>
          </a:bodyPr>
          <a:lstStyle/>
          <a:p>
            <a:pPr algn="l">
              <a:lnSpc>
                <a:spcPct val="115000"/>
              </a:lnSpc>
            </a:pPr>
            <a:r>
              <a:rPr sz="2600" b="0" i="1">
                <a:solidFill>
                  <a:srgbClr val="FFFFFF"/>
                </a:solidFill>
                <a:latin typeface="Cambria"/>
              </a:rPr>
              <a:t>Engagement &amp; Micro Practice Skills</a:t>
            </a:r>
          </a:p>
        </p:txBody>
      </p:sp>
      <p:sp>
        <p:nvSpPr>
          <p:cNvPr id="6" name="Rectangle 5"/>
          <p:cNvSpPr/>
          <p:nvPr/>
        </p:nvSpPr>
        <p:spPr>
          <a:xfrm>
            <a:off x="914400" y="4343400"/>
            <a:ext cx="2011680" cy="38100"/>
          </a:xfrm>
          <a:prstGeom prst="rect">
            <a:avLst/>
          </a:prstGeom>
          <a:solidFill>
            <a:srgbClr val="EA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5486400" cy="365760"/>
          </a:xfrm>
          <a:prstGeom prst="rect">
            <a:avLst/>
          </a:prstGeom>
          <a:noFill/>
        </p:spPr>
        <p:txBody>
          <a:bodyPr wrap="square" anchor="t" lIns="0" rIns="0" tIns="0" bIns="0">
            <a:spAutoFit/>
          </a:bodyPr>
          <a:lstStyle/>
          <a:p>
            <a:pPr algn="l">
              <a:lnSpc>
                <a:spcPct val="115000"/>
              </a:lnSpc>
            </a:pPr>
            <a:r>
              <a:rPr sz="1500" b="0" i="0">
                <a:solidFill>
                  <a:srgbClr val="E3DCCE"/>
                </a:solidFill>
                <a:latin typeface="Calibri"/>
              </a:rPr>
              <a:t>Dr. Ivis Renee King</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TODAY'S SESSION</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Where We're Headed</a:t>
            </a:r>
          </a:p>
        </p:txBody>
      </p:sp>
      <p:sp>
        <p:nvSpPr>
          <p:cNvPr id="4" name="Oval 3"/>
          <p:cNvSpPr/>
          <p:nvPr/>
        </p:nvSpPr>
        <p:spPr>
          <a:xfrm>
            <a:off x="64008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64008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Operationalizing Values</a:t>
            </a:r>
          </a:p>
        </p:txBody>
      </p:sp>
      <p:sp>
        <p:nvSpPr>
          <p:cNvPr id="6" name="Oval 5"/>
          <p:cNvSpPr/>
          <p:nvPr/>
        </p:nvSpPr>
        <p:spPr>
          <a:xfrm>
            <a:off x="4251960" y="1874519"/>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2</a:t>
            </a:r>
          </a:p>
        </p:txBody>
      </p:sp>
      <p:sp>
        <p:nvSpPr>
          <p:cNvPr id="7" name="TextBox 6"/>
          <p:cNvSpPr txBox="1"/>
          <p:nvPr/>
        </p:nvSpPr>
        <p:spPr>
          <a:xfrm>
            <a:off x="425196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Empathy vs. Sympathy</a:t>
            </a:r>
          </a:p>
        </p:txBody>
      </p:sp>
      <p:sp>
        <p:nvSpPr>
          <p:cNvPr id="8" name="Oval 7"/>
          <p:cNvSpPr/>
          <p:nvPr/>
        </p:nvSpPr>
        <p:spPr>
          <a:xfrm>
            <a:off x="786384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9" name="TextBox 8"/>
          <p:cNvSpPr txBox="1"/>
          <p:nvPr/>
        </p:nvSpPr>
        <p:spPr>
          <a:xfrm>
            <a:off x="786384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Authenticity</a:t>
            </a:r>
          </a:p>
        </p:txBody>
      </p:sp>
      <p:sp>
        <p:nvSpPr>
          <p:cNvPr id="10" name="Oval 9"/>
          <p:cNvSpPr/>
          <p:nvPr/>
        </p:nvSpPr>
        <p:spPr>
          <a:xfrm>
            <a:off x="64008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4</a:t>
            </a:r>
          </a:p>
        </p:txBody>
      </p:sp>
      <p:sp>
        <p:nvSpPr>
          <p:cNvPr id="11" name="TextBox 10"/>
          <p:cNvSpPr txBox="1"/>
          <p:nvPr/>
        </p:nvSpPr>
        <p:spPr>
          <a:xfrm>
            <a:off x="64008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Cultural Humility</a:t>
            </a:r>
          </a:p>
        </p:txBody>
      </p:sp>
      <p:sp>
        <p:nvSpPr>
          <p:cNvPr id="12" name="Oval 11"/>
          <p:cNvSpPr/>
          <p:nvPr/>
        </p:nvSpPr>
        <p:spPr>
          <a:xfrm>
            <a:off x="4251960" y="34290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5</a:t>
            </a:r>
          </a:p>
        </p:txBody>
      </p:sp>
      <p:sp>
        <p:nvSpPr>
          <p:cNvPr id="13" name="TextBox 12"/>
          <p:cNvSpPr txBox="1"/>
          <p:nvPr/>
        </p:nvSpPr>
        <p:spPr>
          <a:xfrm>
            <a:off x="425196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Engagement Simulation Preview</a:t>
            </a:r>
          </a:p>
        </p:txBody>
      </p:sp>
      <p:sp>
        <p:nvSpPr>
          <p:cNvPr id="14" name="Oval 13"/>
          <p:cNvSpPr/>
          <p:nvPr/>
        </p:nvSpPr>
        <p:spPr>
          <a:xfrm>
            <a:off x="786384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6</a:t>
            </a:r>
          </a:p>
        </p:txBody>
      </p:sp>
      <p:sp>
        <p:nvSpPr>
          <p:cNvPr id="15" name="TextBox 14"/>
          <p:cNvSpPr txBox="1"/>
          <p:nvPr/>
        </p:nvSpPr>
        <p:spPr>
          <a:xfrm>
            <a:off x="786384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Practice Rounds</a:t>
            </a:r>
          </a:p>
        </p:txBody>
      </p:sp>
      <p:sp>
        <p:nvSpPr>
          <p:cNvPr id="16" name="TextBox 15"/>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17" name="TextBox 16"/>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PART 1</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Operationalizing the Cardinal Values</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FROM PRINCIPLE TO PRACTICE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Values Are Not Self-Executing</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You already know the cardinal social work values — service, social justice, dignity and worth of the person, importance of human relationships, integrity, competence. This week is about what they actually sound like and look like in a real five-minute exchange with another person, not just what they mean as abstract commitments.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IN THE ROOM</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Values Look Like in Real Time</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Dignity &amp; worth</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Sitting with, not above — your posture and pacing say this before your words do.</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Self-determination</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Offering options rather than directives, even when you're confident you know the “right” answer.</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Integrity</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Naming the limits of what you can promise, instead of over-reassuring to smooth a hard moment.</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WHERE WE ARE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Engagement in the GIM Model</a:t>
            </a:r>
          </a:p>
        </p:txBody>
      </p:sp>
      <p:sp>
        <p:nvSpPr>
          <p:cNvPr id="4" name="Oval 3"/>
          <p:cNvSpPr/>
          <p:nvPr/>
        </p:nvSpPr>
        <p:spPr>
          <a:xfrm>
            <a:off x="996696" y="2331720"/>
            <a:ext cx="621792" cy="6217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Cambria"/>
              </a:rPr>
              <a:t>1</a:t>
            </a:r>
          </a:p>
        </p:txBody>
      </p:sp>
      <p:sp>
        <p:nvSpPr>
          <p:cNvPr id="5" name="TextBox 4"/>
          <p:cNvSpPr txBox="1"/>
          <p:nvPr/>
        </p:nvSpPr>
        <p:spPr>
          <a:xfrm>
            <a:off x="594360"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Engagement</a:t>
            </a:r>
          </a:p>
        </p:txBody>
      </p:sp>
      <p:sp>
        <p:nvSpPr>
          <p:cNvPr id="6" name="Chevron 5"/>
          <p:cNvSpPr/>
          <p:nvPr/>
        </p:nvSpPr>
        <p:spPr>
          <a:xfrm>
            <a:off x="2045512"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587752"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2</a:t>
            </a:r>
          </a:p>
        </p:txBody>
      </p:sp>
      <p:sp>
        <p:nvSpPr>
          <p:cNvPr id="8" name="TextBox 7"/>
          <p:cNvSpPr txBox="1"/>
          <p:nvPr/>
        </p:nvSpPr>
        <p:spPr>
          <a:xfrm>
            <a:off x="2185416"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Assessment</a:t>
            </a:r>
          </a:p>
        </p:txBody>
      </p:sp>
      <p:sp>
        <p:nvSpPr>
          <p:cNvPr id="9" name="Chevron 8"/>
          <p:cNvSpPr/>
          <p:nvPr/>
        </p:nvSpPr>
        <p:spPr>
          <a:xfrm>
            <a:off x="3636568"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178808"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3</a:t>
            </a:r>
          </a:p>
        </p:txBody>
      </p:sp>
      <p:sp>
        <p:nvSpPr>
          <p:cNvPr id="11" name="TextBox 10"/>
          <p:cNvSpPr txBox="1"/>
          <p:nvPr/>
        </p:nvSpPr>
        <p:spPr>
          <a:xfrm>
            <a:off x="3776472"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Planning</a:t>
            </a:r>
          </a:p>
        </p:txBody>
      </p:sp>
      <p:sp>
        <p:nvSpPr>
          <p:cNvPr id="12" name="Chevron 11"/>
          <p:cNvSpPr/>
          <p:nvPr/>
        </p:nvSpPr>
        <p:spPr>
          <a:xfrm>
            <a:off x="5227624"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9864"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4</a:t>
            </a:r>
          </a:p>
        </p:txBody>
      </p:sp>
      <p:sp>
        <p:nvSpPr>
          <p:cNvPr id="14" name="TextBox 13"/>
          <p:cNvSpPr txBox="1"/>
          <p:nvPr/>
        </p:nvSpPr>
        <p:spPr>
          <a:xfrm>
            <a:off x="5367528"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Implementation</a:t>
            </a:r>
          </a:p>
        </p:txBody>
      </p:sp>
      <p:sp>
        <p:nvSpPr>
          <p:cNvPr id="15" name="Chevron 14"/>
          <p:cNvSpPr/>
          <p:nvPr/>
        </p:nvSpPr>
        <p:spPr>
          <a:xfrm>
            <a:off x="6818680"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60920"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5</a:t>
            </a:r>
          </a:p>
        </p:txBody>
      </p:sp>
      <p:sp>
        <p:nvSpPr>
          <p:cNvPr id="17" name="TextBox 16"/>
          <p:cNvSpPr txBox="1"/>
          <p:nvPr/>
        </p:nvSpPr>
        <p:spPr>
          <a:xfrm>
            <a:off x="6958584"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Evaluation</a:t>
            </a:r>
          </a:p>
        </p:txBody>
      </p:sp>
      <p:sp>
        <p:nvSpPr>
          <p:cNvPr id="18" name="Chevron 17"/>
          <p:cNvSpPr/>
          <p:nvPr/>
        </p:nvSpPr>
        <p:spPr>
          <a:xfrm>
            <a:off x="8409736"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51976"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6</a:t>
            </a:r>
          </a:p>
        </p:txBody>
      </p:sp>
      <p:sp>
        <p:nvSpPr>
          <p:cNvPr id="20" name="TextBox 19"/>
          <p:cNvSpPr txBox="1"/>
          <p:nvPr/>
        </p:nvSpPr>
        <p:spPr>
          <a:xfrm>
            <a:off x="8549640"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Termination</a:t>
            </a:r>
          </a:p>
        </p:txBody>
      </p:sp>
      <p:sp>
        <p:nvSpPr>
          <p:cNvPr id="21" name="Chevron 20"/>
          <p:cNvSpPr/>
          <p:nvPr/>
        </p:nvSpPr>
        <p:spPr>
          <a:xfrm>
            <a:off x="10000792"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543032"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7</a:t>
            </a:r>
          </a:p>
        </p:txBody>
      </p:sp>
      <p:sp>
        <p:nvSpPr>
          <p:cNvPr id="23" name="TextBox 22"/>
          <p:cNvSpPr txBox="1"/>
          <p:nvPr/>
        </p:nvSpPr>
        <p:spPr>
          <a:xfrm>
            <a:off x="10140696"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Follow-Up</a:t>
            </a:r>
          </a:p>
        </p:txBody>
      </p:sp>
      <p:sp>
        <p:nvSpPr>
          <p:cNvPr id="24" name="TextBox 23"/>
          <p:cNvSpPr txBox="1"/>
          <p:nvPr/>
        </p:nvSpPr>
        <p:spPr>
          <a:xfrm>
            <a:off x="640080" y="4663440"/>
            <a:ext cx="10515600" cy="1097280"/>
          </a:xfrm>
          <a:prstGeom prst="rect">
            <a:avLst/>
          </a:prstGeom>
          <a:noFill/>
        </p:spPr>
        <p:txBody>
          <a:bodyPr wrap="square" anchor="t" lIns="0" rIns="0" tIns="0" bIns="0">
            <a:spAutoFit/>
          </a:bodyPr>
          <a:lstStyle/>
          <a:p>
            <a:pPr algn="l">
              <a:lnSpc>
                <a:spcPct val="115000"/>
              </a:lnSpc>
            </a:pPr>
            <a:r>
              <a:rPr sz="1500" b="0" i="1">
                <a:solidFill>
                  <a:srgbClr val="6B6259"/>
                </a:solidFill>
                <a:latin typeface="Calibri"/>
              </a:rPr>
              <a:t>Everything this week and next builds the very first GIM stage — the foundation every later stage depends on.</a:t>
            </a:r>
          </a:p>
        </p:txBody>
      </p:sp>
      <p:sp>
        <p:nvSpPr>
          <p:cNvPr id="25" name="TextBox 2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26" name="TextBox 2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BEYOND THE RUBRIC</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Cultural Humility Is a Stance, Not a Checklist</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Cultural humility means treating the client as the expert on their own life and culture, and staying genuinely curious rather than relying on what you already assume you know about a group they belong to. It's a posture you hold throughout the interview, not a single question you remember to ask.</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PART 2</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Empathy and Authenticity</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MYTH VS. REALITY</a:t>
            </a:r>
          </a:p>
        </p:txBody>
      </p:sp>
      <p:sp>
        <p:nvSpPr>
          <p:cNvPr id="3" name="TextBox 2"/>
          <p:cNvSpPr txBox="1"/>
          <p:nvPr/>
        </p:nvSpPr>
        <p:spPr>
          <a:xfrm>
            <a:off x="822960" y="1737360"/>
            <a:ext cx="10515600" cy="1188720"/>
          </a:xfrm>
          <a:prstGeom prst="rect">
            <a:avLst/>
          </a:prstGeom>
          <a:noFill/>
        </p:spPr>
        <p:txBody>
          <a:bodyPr wrap="square" anchor="t" lIns="0" rIns="0" tIns="0" bIns="0">
            <a:spAutoFit/>
          </a:bodyPr>
          <a:lstStyle/>
          <a:p>
            <a:pPr algn="l">
              <a:lnSpc>
                <a:spcPct val="115000"/>
              </a:lnSpc>
            </a:pPr>
            <a:r>
              <a:rPr sz="3000" b="1" i="1">
                <a:solidFill>
                  <a:srgbClr val="FFFFFF"/>
                </a:solidFill>
                <a:latin typeface="Cambria"/>
              </a:rPr>
              <a:t>"Empathy means feeling what the client feels."</a:t>
            </a:r>
          </a:p>
        </p:txBody>
      </p:sp>
      <p:sp>
        <p:nvSpPr>
          <p:cNvPr id="4" name="Rounded Rectangle 3"/>
          <p:cNvSpPr/>
          <p:nvPr/>
        </p:nvSpPr>
        <p:spPr>
          <a:xfrm>
            <a:off x="822960" y="3063240"/>
            <a:ext cx="10515600" cy="2834640"/>
          </a:xfrm>
          <a:prstGeom prst="roundRect">
            <a:avLst>
              <a:gd name="adj" fmla="val 6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383280"/>
            <a:ext cx="2743200" cy="457200"/>
          </a:xfrm>
          <a:prstGeom prst="rect">
            <a:avLst/>
          </a:prstGeom>
          <a:noFill/>
        </p:spPr>
        <p:txBody>
          <a:bodyPr wrap="square" anchor="t" lIns="0" rIns="0" tIns="0" bIns="0">
            <a:spAutoFit/>
          </a:bodyPr>
          <a:lstStyle/>
          <a:p>
            <a:pPr algn="l">
              <a:lnSpc>
                <a:spcPct val="115000"/>
              </a:lnSpc>
            </a:pPr>
            <a:r>
              <a:rPr sz="1800" b="1" i="0">
                <a:solidFill>
                  <a:srgbClr val="EAAA00"/>
                </a:solidFill>
                <a:latin typeface="Cambria"/>
              </a:rPr>
              <a:t>Reality:</a:t>
            </a:r>
          </a:p>
        </p:txBody>
      </p:sp>
      <p:sp>
        <p:nvSpPr>
          <p:cNvPr id="6" name="TextBox 5"/>
          <p:cNvSpPr txBox="1"/>
          <p:nvPr/>
        </p:nvSpPr>
        <p:spPr>
          <a:xfrm>
            <a:off x="1188720" y="3840480"/>
            <a:ext cx="9784080" cy="192024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That's sympathy. Empathy is understanding and communicating that you grasp the client's experience and meaning, while staying grounded in your own separate perspective — which is exactly what lets you stay useful instead of overwhelmed.</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RELATIONSHIP-BUILDING</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Empathy Sounds Like</a:t>
            </a:r>
          </a:p>
        </p:txBody>
      </p:sp>
      <p:sp>
        <p:nvSpPr>
          <p:cNvPr id="4" name="Oval 3"/>
          <p:cNvSpPr/>
          <p:nvPr/>
        </p:nvSpPr>
        <p:spPr>
          <a:xfrm>
            <a:off x="640080" y="18288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1600200" y="180136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Reflecting content</a:t>
            </a:r>
          </a:p>
        </p:txBody>
      </p:sp>
      <p:sp>
        <p:nvSpPr>
          <p:cNvPr id="6" name="TextBox 5"/>
          <p:cNvSpPr txBox="1"/>
          <p:nvPr/>
        </p:nvSpPr>
        <p:spPr>
          <a:xfrm>
            <a:off x="1600200" y="226771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“So the eviction notice arrived the same week your hours got cut.”</a:t>
            </a:r>
          </a:p>
        </p:txBody>
      </p:sp>
      <p:sp>
        <p:nvSpPr>
          <p:cNvPr id="7" name="Oval 6"/>
          <p:cNvSpPr/>
          <p:nvPr/>
        </p:nvSpPr>
        <p:spPr>
          <a:xfrm>
            <a:off x="640080" y="332232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2</a:t>
            </a:r>
          </a:p>
        </p:txBody>
      </p:sp>
      <p:sp>
        <p:nvSpPr>
          <p:cNvPr id="8" name="TextBox 7"/>
          <p:cNvSpPr txBox="1"/>
          <p:nvPr/>
        </p:nvSpPr>
        <p:spPr>
          <a:xfrm>
            <a:off x="1600200" y="329488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Reflecting feeling</a:t>
            </a:r>
          </a:p>
        </p:txBody>
      </p:sp>
      <p:sp>
        <p:nvSpPr>
          <p:cNvPr id="9" name="TextBox 8"/>
          <p:cNvSpPr txBox="1"/>
          <p:nvPr/>
        </p:nvSpPr>
        <p:spPr>
          <a:xfrm>
            <a:off x="1600200" y="376123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“That sounds like it landed as one more thing on top of an already full plate.”</a:t>
            </a:r>
          </a:p>
        </p:txBody>
      </p:sp>
      <p:sp>
        <p:nvSpPr>
          <p:cNvPr id="10" name="Oval 9"/>
          <p:cNvSpPr/>
          <p:nvPr/>
        </p:nvSpPr>
        <p:spPr>
          <a:xfrm>
            <a:off x="640080" y="481584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11" name="TextBox 10"/>
          <p:cNvSpPr txBox="1"/>
          <p:nvPr/>
        </p:nvSpPr>
        <p:spPr>
          <a:xfrm>
            <a:off x="1600200" y="478840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Checking accuracy</a:t>
            </a:r>
          </a:p>
        </p:txBody>
      </p:sp>
      <p:sp>
        <p:nvSpPr>
          <p:cNvPr id="12" name="TextBox 11"/>
          <p:cNvSpPr txBox="1"/>
          <p:nvPr/>
        </p:nvSpPr>
        <p:spPr>
          <a:xfrm>
            <a:off x="1600200" y="525475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“Am I understanding that right, or is there a piece I'm missing?”</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GENUINENESS WITHOUT OVERSHARING</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Authenticity Has a Professional Edge</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Authenticity in the professional relationship means being genuinely present — not performing a script — while still keeping the focus on the client's process, not your own. Sharing a brief, relevant piece of your own experience can build connection; narrating your own struggles at length shifts the room's center of gravity away from the client.</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PART 3</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Engagement Simulation — What's Ahead</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LOOKING TO WEEK 4</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The Engagement Simulation, Previewed</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Next week you'll conduct and record a structured practice intake interview with a classmate, friend, or family member playing a simulated client — using a fictional case only. You'll complete a self-assessment against the Competency 6 Engagement Rubric, and you're welcome to use the Practice Coach for feedback on that self-assessment.</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THE RUBRIC, PREVIEWED</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Three Things You'll Be Scored On</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Empathy</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Do your reflections show accurate understanding, not just active listening theater?</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Professionalism</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Pacing, boundaries, and structure of the interview from open to close.</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Cultural humility</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Curiosity about the client's context rather than assumptions imported from your own.</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CONFIDENTIALITY</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FFFFFF"/>
                </a:solidFill>
                <a:latin typeface="Cambria"/>
              </a:rPr>
              <a:t>A Fictional Case, a Real Skill</a:t>
            </a:r>
          </a:p>
        </p:txBody>
      </p:sp>
      <p:sp>
        <p:nvSpPr>
          <p:cNvPr id="4" name="Rounded Rectangle 3"/>
          <p:cNvSpPr/>
          <p:nvPr/>
        </p:nvSpPr>
        <p:spPr>
          <a:xfrm>
            <a:off x="640080" y="2377440"/>
            <a:ext cx="10698480" cy="3291840"/>
          </a:xfrm>
          <a:prstGeom prst="roundRect">
            <a:avLst>
              <a:gd name="adj" fmla="val 4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697480"/>
            <a:ext cx="10058400" cy="548640"/>
          </a:xfrm>
          <a:prstGeom prst="rect">
            <a:avLst/>
          </a:prstGeom>
          <a:noFill/>
        </p:spPr>
        <p:txBody>
          <a:bodyPr wrap="square" anchor="t" lIns="0" rIns="0" tIns="0" bIns="0">
            <a:spAutoFit/>
          </a:bodyPr>
          <a:lstStyle/>
          <a:p>
            <a:pPr algn="l">
              <a:lnSpc>
                <a:spcPct val="115000"/>
              </a:lnSpc>
            </a:pPr>
            <a:r>
              <a:rPr sz="2200" b="1" i="0">
                <a:solidFill>
                  <a:srgbClr val="EAAA00"/>
                </a:solidFill>
                <a:latin typeface="Cambria"/>
              </a:rPr>
              <a:t>The case must be fictional.</a:t>
            </a:r>
          </a:p>
        </p:txBody>
      </p:sp>
      <p:sp>
        <p:nvSpPr>
          <p:cNvPr id="6" name="TextBox 5"/>
          <p:cNvSpPr txBox="1"/>
          <p:nvPr/>
        </p:nvSpPr>
        <p:spPr>
          <a:xfrm>
            <a:off x="1051560" y="3337560"/>
            <a:ext cx="9875520" cy="210312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Even though your simulated client is someone real, the case they present must be invented — never a real, disclosed personal issue belonging to either of you. The skill you're practicing is real; the content is not.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PRACTICE NOW</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In-Class Paired Exercise</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PRACTICE ROUNDS</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Today's In-Class Exercise</a:t>
            </a:r>
          </a:p>
        </p:txBody>
      </p:sp>
      <p:sp>
        <p:nvSpPr>
          <p:cNvPr id="4" name="Oval 3"/>
          <p:cNvSpPr/>
          <p:nvPr/>
        </p:nvSpPr>
        <p:spPr>
          <a:xfrm>
            <a:off x="640080" y="18288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1600200" y="180136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Round 1 — Reflecting content</a:t>
            </a:r>
          </a:p>
        </p:txBody>
      </p:sp>
      <p:sp>
        <p:nvSpPr>
          <p:cNvPr id="6" name="TextBox 5"/>
          <p:cNvSpPr txBox="1"/>
          <p:nvPr/>
        </p:nvSpPr>
        <p:spPr>
          <a:xfrm>
            <a:off x="1600200" y="226771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Partner shares a short prompt; you reflect back only what was said.</a:t>
            </a:r>
          </a:p>
        </p:txBody>
      </p:sp>
      <p:sp>
        <p:nvSpPr>
          <p:cNvPr id="7" name="Oval 6"/>
          <p:cNvSpPr/>
          <p:nvPr/>
        </p:nvSpPr>
        <p:spPr>
          <a:xfrm>
            <a:off x="640080" y="332232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2</a:t>
            </a:r>
          </a:p>
        </p:txBody>
      </p:sp>
      <p:sp>
        <p:nvSpPr>
          <p:cNvPr id="8" name="TextBox 7"/>
          <p:cNvSpPr txBox="1"/>
          <p:nvPr/>
        </p:nvSpPr>
        <p:spPr>
          <a:xfrm>
            <a:off x="1600200" y="329488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Round 2 — Reflecting feeling</a:t>
            </a:r>
          </a:p>
        </p:txBody>
      </p:sp>
      <p:sp>
        <p:nvSpPr>
          <p:cNvPr id="9" name="TextBox 8"/>
          <p:cNvSpPr txBox="1"/>
          <p:nvPr/>
        </p:nvSpPr>
        <p:spPr>
          <a:xfrm>
            <a:off x="1600200" y="376123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Same prompt; this time, name the feeling underneath it.</a:t>
            </a:r>
          </a:p>
        </p:txBody>
      </p:sp>
      <p:sp>
        <p:nvSpPr>
          <p:cNvPr id="10" name="Oval 9"/>
          <p:cNvSpPr/>
          <p:nvPr/>
        </p:nvSpPr>
        <p:spPr>
          <a:xfrm>
            <a:off x="640080" y="481584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11" name="TextBox 10"/>
          <p:cNvSpPr txBox="1"/>
          <p:nvPr/>
        </p:nvSpPr>
        <p:spPr>
          <a:xfrm>
            <a:off x="1600200" y="478840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Round 3 — Full exchange</a:t>
            </a:r>
          </a:p>
        </p:txBody>
      </p:sp>
      <p:sp>
        <p:nvSpPr>
          <p:cNvPr id="12" name="TextBox 11"/>
          <p:cNvSpPr txBox="1"/>
          <p:nvPr/>
        </p:nvSpPr>
        <p:spPr>
          <a:xfrm>
            <a:off x="1600200" y="525475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Combine both, and check your accuracy out loud before moving on.</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DEBRIEF</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Did You Notice?</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In pairs: what was harder — staying with the feeling, or resisting the urge to jump to advice? Bring one honest observation about your own habit (interrupting, reassuring too fast, going quiet) to share with the room.</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DUE THIS WEEK</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Preparing for Week 4</a:t>
            </a:r>
          </a:p>
        </p:txBody>
      </p:sp>
      <p:sp>
        <p:nvSpPr>
          <p:cNvPr id="4" name="Rounded Rectangle 3"/>
          <p:cNvSpPr/>
          <p:nvPr/>
        </p:nvSpPr>
        <p:spPr>
          <a:xfrm>
            <a:off x="640080" y="1920240"/>
            <a:ext cx="10698480" cy="3840480"/>
          </a:xfrm>
          <a:prstGeom prst="roundRect">
            <a:avLst>
              <a:gd name="adj" fmla="val 4000"/>
            </a:avLst>
          </a:prstGeom>
          <a:solidFill>
            <a:srgbClr val="E3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286000"/>
            <a:ext cx="9601200" cy="548640"/>
          </a:xfrm>
          <a:prstGeom prst="rect">
            <a:avLst/>
          </a:prstGeom>
          <a:noFill/>
        </p:spPr>
        <p:txBody>
          <a:bodyPr wrap="square" anchor="t" lIns="0" rIns="0" tIns="0" bIns="0">
            <a:spAutoFit/>
          </a:bodyPr>
          <a:lstStyle/>
          <a:p>
            <a:pPr algn="l">
              <a:lnSpc>
                <a:spcPct val="115000"/>
              </a:lnSpc>
            </a:pPr>
            <a:r>
              <a:rPr sz="2000" b="1" i="0">
                <a:solidFill>
                  <a:srgbClr val="1B1512"/>
                </a:solidFill>
                <a:latin typeface="Cambria"/>
              </a:rPr>
              <a:t>Recruit your simulated-client partner now.</a:t>
            </a:r>
          </a:p>
        </p:txBody>
      </p:sp>
      <p:sp>
        <p:nvSpPr>
          <p:cNvPr id="6" name="TextBox 5"/>
          <p:cNvSpPr txBox="1"/>
          <p:nvPr/>
        </p:nvSpPr>
        <p:spPr>
          <a:xfrm>
            <a:off x="1051560" y="2971800"/>
            <a:ext cx="9601200" cy="1371600"/>
          </a:xfrm>
          <a:prstGeom prst="rect">
            <a:avLst/>
          </a:prstGeom>
          <a:noFill/>
        </p:spPr>
        <p:txBody>
          <a:bodyPr wrap="square" anchor="t" lIns="0" rIns="0" tIns="0" bIns="0">
            <a:spAutoFit/>
          </a:bodyPr>
          <a:lstStyle/>
          <a:p>
            <a:pPr algn="l">
              <a:lnSpc>
                <a:spcPct val="130000"/>
              </a:lnSpc>
            </a:pPr>
            <a:r>
              <a:rPr sz="1700" b="0" i="0">
                <a:solidFill>
                  <a:srgbClr val="1B1512"/>
                </a:solidFill>
                <a:latin typeface="Calibri"/>
              </a:rPr>
              <a:t>Line up a classmate, friend, or family member willing to play a simulated client for a recorded practice intake next week. Agree together on a fictional case scenario before you record — don't improvise real personal content live.</a:t>
            </a:r>
          </a:p>
        </p:txBody>
      </p:sp>
      <p:sp>
        <p:nvSpPr>
          <p:cNvPr id="7" name="TextBox 6"/>
          <p:cNvSpPr txBox="1"/>
          <p:nvPr/>
        </p:nvSpPr>
        <p:spPr>
          <a:xfrm>
            <a:off x="1051560" y="4434840"/>
            <a:ext cx="9601200" cy="548640"/>
          </a:xfrm>
          <a:prstGeom prst="rect">
            <a:avLst/>
          </a:prstGeom>
          <a:noFill/>
        </p:spPr>
        <p:txBody>
          <a:bodyPr wrap="square" anchor="t" lIns="0" rIns="0" tIns="0" bIns="0">
            <a:spAutoFit/>
          </a:bodyPr>
          <a:lstStyle/>
          <a:p>
            <a:pPr algn="l">
              <a:lnSpc>
                <a:spcPct val="115000"/>
              </a:lnSpc>
            </a:pPr>
            <a:r>
              <a:rPr sz="1500" b="1" i="0">
                <a:solidFill>
                  <a:srgbClr val="C8102E"/>
                </a:solidFill>
                <a:latin typeface="Calibri"/>
              </a:rPr>
              <a:t>Engagement Simulation is due Week 4 · Worth: 15% of course grade · Competency 6: Engage</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3 · Week 3</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28600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NEXT WEEK</a:t>
            </a:r>
          </a:p>
        </p:txBody>
      </p:sp>
      <p:sp>
        <p:nvSpPr>
          <p:cNvPr id="3" name="TextBox 2"/>
          <p:cNvSpPr txBox="1"/>
          <p:nvPr/>
        </p:nvSpPr>
        <p:spPr>
          <a:xfrm>
            <a:off x="914400" y="2743200"/>
            <a:ext cx="10332720" cy="1005840"/>
          </a:xfrm>
          <a:prstGeom prst="rect">
            <a:avLst/>
          </a:prstGeom>
          <a:noFill/>
        </p:spPr>
        <p:txBody>
          <a:bodyPr wrap="square" anchor="t" lIns="0" rIns="0" tIns="0" bIns="0">
            <a:spAutoFit/>
          </a:bodyPr>
          <a:lstStyle/>
          <a:p>
            <a:pPr algn="l">
              <a:lnSpc>
                <a:spcPct val="115000"/>
              </a:lnSpc>
            </a:pPr>
            <a:r>
              <a:rPr sz="3200" b="1" i="0">
                <a:solidFill>
                  <a:srgbClr val="FFFFFF"/>
                </a:solidFill>
                <a:latin typeface="Cambria"/>
              </a:rPr>
              <a:t>Week 4 — Verbal Skills &amp; the Engagement Simulation</a:t>
            </a:r>
          </a:p>
        </p:txBody>
      </p:sp>
      <p:sp>
        <p:nvSpPr>
          <p:cNvPr id="4" name="TextBox 3"/>
          <p:cNvSpPr txBox="1"/>
          <p:nvPr/>
        </p:nvSpPr>
        <p:spPr>
          <a:xfrm>
            <a:off x="914400" y="4023360"/>
            <a:ext cx="10332720" cy="731520"/>
          </a:xfrm>
          <a:prstGeom prst="rect">
            <a:avLst/>
          </a:prstGeom>
          <a:noFill/>
        </p:spPr>
        <p:txBody>
          <a:bodyPr wrap="square" anchor="t" lIns="0" rIns="0" tIns="0" bIns="0">
            <a:spAutoFit/>
          </a:bodyPr>
          <a:lstStyle/>
          <a:p>
            <a:pPr algn="l">
              <a:lnSpc>
                <a:spcPct val="115000"/>
              </a:lnSpc>
            </a:pPr>
            <a:r>
              <a:rPr sz="2400" b="0" i="1">
                <a:solidFill>
                  <a:srgbClr val="E3DCCE"/>
                </a:solidFill>
                <a:latin typeface="Cambria"/>
              </a:rPr>
              <a:t>Questions?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3 · Week 3</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