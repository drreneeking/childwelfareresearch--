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5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AAA00"/>
                </a:solidFill>
                <a:latin typeface="Calibri"/>
              </a:rPr>
              <a:t>WHITNEY M. YOUNG, JR. SCHOOL OF SOCIAL WORK · CLARK ATLANTA UNIVERSITY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965960"/>
            <a:ext cx="10332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FFFFFF"/>
                </a:solidFill>
                <a:latin typeface="Cambria"/>
              </a:rPr>
              <a:t>CUSW 403 — Practice Competency 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FF8A96"/>
                </a:solidFill>
                <a:latin typeface="Calibri"/>
              </a:rPr>
              <a:t>Module 7 · Week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29000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1">
                <a:solidFill>
                  <a:srgbClr val="FFFFFF"/>
                </a:solidFill>
                <a:latin typeface="Cambria"/>
              </a:rPr>
              <a:t>Modifying Environments &amp; Developing Resources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343400"/>
            <a:ext cx="2011680" cy="38100"/>
          </a:xfrm>
          <a:prstGeom prst="rect">
            <a:avLst/>
          </a:prstGeom>
          <a:solidFill>
            <a:srgbClr val="EA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6177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E3DCCE"/>
                </a:solidFill>
                <a:latin typeface="Calibri"/>
              </a:rPr>
              <a:t>Dr. Ivis Renee 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CUSW 403 · Module 7 · Week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8102E"/>
                </a:solidFill>
                <a:latin typeface="Calibri"/>
              </a:rPr>
              <a:t>TODAY'S SESSION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B1512"/>
                </a:solidFill>
                <a:latin typeface="Cambria"/>
              </a:rPr>
              <a:t>Where We're Headed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874519"/>
            <a:ext cx="640080" cy="64008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51759"/>
            <a:ext cx="3291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B1512"/>
                </a:solidFill>
                <a:latin typeface="Cambria"/>
              </a:rPr>
              <a:t>Macro Practice, Briefly</a:t>
            </a:r>
          </a:p>
        </p:txBody>
      </p:sp>
      <p:sp>
        <p:nvSpPr>
          <p:cNvPr id="6" name="Oval 5"/>
          <p:cNvSpPr/>
          <p:nvPr/>
        </p:nvSpPr>
        <p:spPr>
          <a:xfrm>
            <a:off x="4251960" y="1874519"/>
            <a:ext cx="640080" cy="640080"/>
          </a:xfrm>
          <a:prstGeom prst="ellipse">
            <a:avLst/>
          </a:prstGeom>
          <a:solidFill>
            <a:srgbClr val="EAA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1B1512"/>
                </a:solidFill>
                <a:latin typeface="Cambria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2651759"/>
            <a:ext cx="3291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B1512"/>
                </a:solidFill>
                <a:latin typeface="Cambria"/>
              </a:rPr>
              <a:t>Modifying Environments</a:t>
            </a:r>
          </a:p>
        </p:txBody>
      </p:sp>
      <p:sp>
        <p:nvSpPr>
          <p:cNvPr id="8" name="Oval 7"/>
          <p:cNvSpPr/>
          <p:nvPr/>
        </p:nvSpPr>
        <p:spPr>
          <a:xfrm>
            <a:off x="7863840" y="1874519"/>
            <a:ext cx="640080" cy="64008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2651759"/>
            <a:ext cx="3291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B1512"/>
                </a:solidFill>
                <a:latin typeface="Cambria"/>
              </a:rPr>
              <a:t>Developing Resources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429000"/>
            <a:ext cx="640080" cy="640080"/>
          </a:xfrm>
          <a:prstGeom prst="ellipse">
            <a:avLst/>
          </a:prstGeom>
          <a:solidFill>
            <a:srgbClr val="EAA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1B1512"/>
                </a:solidFill>
                <a:latin typeface="Cambria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06240"/>
            <a:ext cx="3291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B1512"/>
                </a:solidFill>
                <a:latin typeface="Cambria"/>
              </a:rPr>
              <a:t>Building an Asset Map</a:t>
            </a:r>
          </a:p>
        </p:txBody>
      </p:sp>
      <p:sp>
        <p:nvSpPr>
          <p:cNvPr id="12" name="Oval 11"/>
          <p:cNvSpPr/>
          <p:nvPr/>
        </p:nvSpPr>
        <p:spPr>
          <a:xfrm>
            <a:off x="4251960" y="3429000"/>
            <a:ext cx="640080" cy="64008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4206240"/>
            <a:ext cx="3291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B1512"/>
                </a:solidFill>
                <a:latin typeface="Cambria"/>
              </a:rPr>
              <a:t>Rotation Continues</a:t>
            </a:r>
          </a:p>
        </p:txBody>
      </p:sp>
      <p:sp>
        <p:nvSpPr>
          <p:cNvPr id="14" name="Oval 13"/>
          <p:cNvSpPr/>
          <p:nvPr/>
        </p:nvSpPr>
        <p:spPr>
          <a:xfrm>
            <a:off x="7863840" y="3429000"/>
            <a:ext cx="640080" cy="640080"/>
          </a:xfrm>
          <a:prstGeom prst="ellipse">
            <a:avLst/>
          </a:prstGeom>
          <a:solidFill>
            <a:srgbClr val="EAA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1B1512"/>
                </a:solidFill>
                <a:latin typeface="Cambria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4206240"/>
            <a:ext cx="3291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B1512"/>
                </a:solidFill>
                <a:latin typeface="Cambria"/>
              </a:rPr>
              <a:t>Supervisor Evaluation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CUSW 403 · Module 7 · Week 13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8102E"/>
                </a:solidFill>
                <a:latin typeface="Calibri"/>
              </a:rPr>
              <a:t>THIS WEEK'S CONTENT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B1512"/>
                </a:solidFill>
                <a:latin typeface="Cambria"/>
              </a:rPr>
              <a:t>Environment as an Intervention Target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0584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0" i="0">
                <a:solidFill>
                  <a:srgbClr val="1B1512"/>
                </a:solidFill>
                <a:latin typeface="Calibri"/>
              </a:rPr>
              <a:t>Modifying environments and developing resources treats the client's surrounding environment — not just the individual — as something a practitioner can work to change. This is exposure-level macro content: the point is recognizing the approach, not mastering agency-level resource development.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CUSW 403 · Module 7 · Week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8102E"/>
                </a:solidFill>
                <a:latin typeface="Calibri"/>
              </a:rPr>
              <a:t>TWO LEVERS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B1512"/>
                </a:solidFill>
                <a:latin typeface="Cambria"/>
              </a:rPr>
              <a:t>Modify vs. Develop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65960"/>
            <a:ext cx="3520440" cy="37490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8575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286000"/>
            <a:ext cx="2880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C8102E"/>
                </a:solidFill>
                <a:latin typeface="Cambria"/>
              </a:rPr>
              <a:t>Modifying environments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017520"/>
            <a:ext cx="288036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0" i="0">
                <a:solidFill>
                  <a:srgbClr val="1B1512"/>
                </a:solidFill>
                <a:latin typeface="Calibri"/>
              </a:rPr>
              <a:t>Changing existing conditions — policy, access, physical space.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965960"/>
            <a:ext cx="3520440" cy="37490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8575">
            <a:solidFill>
              <a:srgbClr val="8A6D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2286000"/>
            <a:ext cx="2880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8A6D18"/>
                </a:solidFill>
                <a:latin typeface="Cambria"/>
              </a:rPr>
              <a:t>Developing resources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3017520"/>
            <a:ext cx="288036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0" i="0">
                <a:solidFill>
                  <a:srgbClr val="1B1512"/>
                </a:solidFill>
                <a:latin typeface="Calibri"/>
              </a:rPr>
              <a:t>Building something that didn't exist before — a new program, a new partnership.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965960"/>
            <a:ext cx="3520440" cy="37490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8575">
            <a:solidFill>
              <a:srgbClr val="6B62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2286000"/>
            <a:ext cx="2880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6B6259"/>
                </a:solidFill>
                <a:latin typeface="Cambria"/>
              </a:rPr>
              <a:t>Both, together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3017520"/>
            <a:ext cx="288036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0" i="0">
                <a:solidFill>
                  <a:srgbClr val="1B1512"/>
                </a:solidFill>
                <a:latin typeface="Calibri"/>
              </a:rPr>
              <a:t>Real macro practice usually reaches for both at once, not one or the other.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CUSW 403 · Module 7 · Week 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5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65176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EAAA00"/>
                </a:solidFill>
                <a:latin typeface="Calibri"/>
              </a:rPr>
              <a:t>ASSIGNMENT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63240"/>
            <a:ext cx="10332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 i="0">
                <a:solidFill>
                  <a:srgbClr val="FFFFFF"/>
                </a:solidFill>
                <a:latin typeface="Cambria"/>
              </a:rPr>
              <a:t>The Community Asset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CUSW 403 · Module 7 · Week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8102E"/>
                </a:solidFill>
                <a:latin typeface="Calibri"/>
              </a:rPr>
              <a:t>MAPPING YOUR ROTATION SITE'S SERVICE AREA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B1512"/>
                </a:solidFill>
                <a:latin typeface="Cambria"/>
              </a:rPr>
              <a:t>What You're Actually Building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0584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0" i="0">
                <a:solidFill>
                  <a:srgbClr val="1B1512"/>
                </a:solidFill>
                <a:latin typeface="Calibri"/>
              </a:rPr>
              <a:t>A community asset map identifies existing resources, gaps, and opportunities for resource development in your rotation site's service area — grounded in what you've actually observed over your three weeks there, not a generic desk-research exercise.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CUSW 403 · Module 7 · Week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8102E"/>
                </a:solidFill>
                <a:latin typeface="Calibri"/>
              </a:rPr>
              <a:t>BUILDING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B1512"/>
                </a:solidFill>
                <a:latin typeface="Cambria"/>
              </a:rPr>
              <a:t>Community Asset Map, Step by Step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828800"/>
            <a:ext cx="640080" cy="64008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1801368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B1512"/>
                </a:solidFill>
                <a:latin typeface="Cambria"/>
              </a:rPr>
              <a:t>Inventory existing resources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2267712"/>
            <a:ext cx="9326880" cy="1036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6B6259"/>
                </a:solidFill>
                <a:latin typeface="Calibri"/>
              </a:rPr>
              <a:t>What's already serving this community — named specifically.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3322320"/>
            <a:ext cx="640080" cy="64008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4888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B1512"/>
                </a:solidFill>
                <a:latin typeface="Cambria"/>
              </a:rPr>
              <a:t>Name the gaps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3761232"/>
            <a:ext cx="9326880" cy="1036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6B6259"/>
                </a:solidFill>
                <a:latin typeface="Calibri"/>
              </a:rPr>
              <a:t>What's missing, based on what you've seen and heard at your site.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4815840"/>
            <a:ext cx="640080" cy="64008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4788408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B1512"/>
                </a:solidFill>
                <a:latin typeface="Cambria"/>
              </a:rPr>
              <a:t>Identify an opportunity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5254752"/>
            <a:ext cx="9326880" cy="1036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6B6259"/>
                </a:solidFill>
                <a:latin typeface="Calibri"/>
              </a:rPr>
              <a:t>One realistic resource-development idea grounded in your observations.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CUSW 403 · Module 7 · Week 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5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AAA00"/>
                </a:solidFill>
                <a:latin typeface="Calibri"/>
              </a:rPr>
              <a:t>MYTH VS. REALITY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1">
                <a:solidFill>
                  <a:srgbClr val="FFFFFF"/>
                </a:solidFill>
                <a:latin typeface="Cambria"/>
              </a:rPr>
              <a:t>"An asset map should focus only on what's broken or missing."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3063240"/>
            <a:ext cx="10515600" cy="2834640"/>
          </a:xfrm>
          <a:prstGeom prst="roundRect">
            <a:avLst>
              <a:gd name="adj" fmla="val 6000"/>
            </a:avLst>
          </a:prstGeom>
          <a:solidFill>
            <a:srgbClr val="2A22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338328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EAAA00"/>
                </a:solidFill>
                <a:latin typeface="Cambria"/>
              </a:rPr>
              <a:t>Reality: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840480"/>
            <a:ext cx="978408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FFFFFF"/>
                </a:solidFill>
                <a:latin typeface="Calibri"/>
              </a:rPr>
              <a:t>A strengths-based asset map documents what's already working just as carefully as what's missing — an intervention built only on deficits ignores the community's own existing capacity.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CUSW 403 · Module 7 · Week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8102E"/>
                </a:solidFill>
                <a:latin typeface="Calibri"/>
              </a:rPr>
              <a:t>THE REFLECTION HALF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B1512"/>
                </a:solidFill>
                <a:latin typeface="Cambria"/>
              </a:rPr>
              <a:t>Social Justice &amp; Intersectionality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0584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0" i="0">
                <a:solidFill>
                  <a:srgbClr val="1B1512"/>
                </a:solidFill>
                <a:latin typeface="Calibri"/>
              </a:rPr>
              <a:t>Alongside your map, write a reflection addressing social justice and intersectionality as they showed up in your rotation experience — where did you see multiple forms of disadvantage compounding for the people this organization serves?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CUSW 403 · Module 7 · Week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5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65176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EAAA00"/>
                </a:solidFill>
                <a:latin typeface="Calibri"/>
              </a:rPr>
              <a:t>WRAPPING 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63240"/>
            <a:ext cx="10332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 i="0">
                <a:solidFill>
                  <a:srgbClr val="FFFFFF"/>
                </a:solidFill>
                <a:latin typeface="Cambria"/>
              </a:rPr>
              <a:t>Phase 2 Concludes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CUSW 403 · Module 7 · Week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5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AAA00"/>
                </a:solidFill>
                <a:latin typeface="Calibri"/>
              </a:rPr>
              <a:t>ONE MORE PIECE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FFFFFF"/>
                </a:solidFill>
                <a:latin typeface="Cambria"/>
              </a:rPr>
              <a:t>The Supervisor Mini-Evaluation Form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377440"/>
            <a:ext cx="10698480" cy="3291840"/>
          </a:xfrm>
          <a:prstGeom prst="roundRect">
            <a:avLst>
              <a:gd name="adj" fmla="val 4000"/>
            </a:avLst>
          </a:prstGeom>
          <a:solidFill>
            <a:srgbClr val="2A22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6974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EAAA00"/>
                </a:solidFill>
                <a:latin typeface="Cambria"/>
              </a:rPr>
              <a:t>Submitted directly by your site supervisor.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337560"/>
            <a:ext cx="987552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FFFFFF"/>
                </a:solidFill>
                <a:latin typeface="Calibri"/>
              </a:rPr>
              <a:t>Your rotation site supervisor completes a short mini-evaluation form directly — make sure they know it's expected and have what they need to complete it before your rotation hours end.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CUSW 403 · Module 7 · Week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8102E"/>
                </a:solidFill>
                <a:latin typeface="Calibri"/>
              </a:rPr>
              <a:t>START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B1512"/>
                </a:solidFill>
                <a:latin typeface="Cambria"/>
              </a:rPr>
              <a:t>Organizing for Module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0584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0" i="0">
                <a:solidFill>
                  <a:srgbClr val="1B1512"/>
                </a:solidFill>
                <a:latin typeface="Calibri"/>
              </a:rPr>
              <a:t>Begin pulling together your Phase 1 and Phase 2 artifacts now — the Module 8 Professional Portfolio draws on all of it: your Engagement Simulation, First Client Case materials, all three rotation logs, and the Afrocentric Perspective Case Study.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CUSW 403 · Module 7 · Week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8102E"/>
                </a:solidFill>
                <a:latin typeface="Calibri"/>
              </a:rPr>
              <a:t>DUE THIS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B1512"/>
                </a:solidFill>
                <a:latin typeface="Cambria"/>
              </a:rPr>
              <a:t>Due This Week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20240"/>
            <a:ext cx="10698480" cy="3840480"/>
          </a:xfrm>
          <a:prstGeom prst="roundRect">
            <a:avLst>
              <a:gd name="adj" fmla="val 4000"/>
            </a:avLst>
          </a:prstGeom>
          <a:solidFill>
            <a:srgbClr val="E3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28600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1B1512"/>
                </a:solidFill>
                <a:latin typeface="Cambria"/>
              </a:rPr>
              <a:t>Community Asset Map + Reflection; Supervisor Mini-Evaluation Form.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971800"/>
            <a:ext cx="9601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1B1512"/>
                </a:solidFill>
                <a:latin typeface="Calibri"/>
              </a:rPr>
              <a:t>Submit your community asset map and reflection on social justice and intersectionality. Confirm your site supervisor has submitted the Mini-Evaluation Form directly.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443484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C8102E"/>
                </a:solidFill>
                <a:latin typeface="Calibri"/>
              </a:rPr>
              <a:t>Worth: 10% of course grade · Reading: Hepworth Ch.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CUSW 403 · Module 7 · Week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5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EAAA00"/>
                </a:solidFill>
                <a:latin typeface="Calibri"/>
              </a:rPr>
              <a:t>PHASE 3 BEGINS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FFFFF"/>
                </a:solidFill>
                <a:latin typeface="Cambria"/>
              </a:rPr>
              <a:t>Module 8 — Evaluation, Termination, Follow-Up &amp; Field Readiness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023360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1">
                <a:solidFill>
                  <a:srgbClr val="E3DCCE"/>
                </a:solidFill>
                <a:latin typeface="Cambria"/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CUSW 403 · Module 7 · Week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