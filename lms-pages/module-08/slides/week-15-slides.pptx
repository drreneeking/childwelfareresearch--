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WHITNEY M. YOUNG, JR. SCHOOL OF SOCIAL WORK · CLARK ATLANTA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CUSW 403 — Practice Competency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8A96"/>
                </a:solidFill>
                <a:latin typeface="Calibri"/>
              </a:rPr>
              <a:t>Module 8 · Week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1">
                <a:solidFill>
                  <a:srgbClr val="FFFFFF"/>
                </a:solidFill>
                <a:latin typeface="Cambria"/>
              </a:rPr>
              <a:t>Field Readiness Certification &amp; Final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43400"/>
            <a:ext cx="2011680" cy="38100"/>
          </a:xfrm>
          <a:prstGeom prst="rect">
            <a:avLst/>
          </a:prstGeom>
          <a:solidFill>
            <a:srgbClr val="EA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3DCCE"/>
                </a:solidFill>
                <a:latin typeface="Calibri"/>
              </a:rPr>
              <a:t>Dr. Ivis Renee 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TODAY'S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Where We're Headed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What Field Readiness Means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1874519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Ready / Conditions / Not Ready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1874519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59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If You're Not Ready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Independent from Your Grade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4290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Final Exam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3429000"/>
            <a:ext cx="640080" cy="640080"/>
          </a:xfrm>
          <a:prstGeom prst="ellipse">
            <a:avLst/>
          </a:prstGeom>
          <a:solidFill>
            <a:srgbClr val="EAA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1B1512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206240"/>
            <a:ext cx="32918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B1512"/>
                </a:solidFill>
                <a:latin typeface="Cambria"/>
              </a:rPr>
              <a:t>Semester Reflection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THE SEMESTER,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Fifteen Weeks, 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MODULES COMPLETED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ROTATION 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2377440"/>
            <a:ext cx="3383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0" b="1" i="0">
                <a:solidFill>
                  <a:srgbClr val="EAAA00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38862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READINESS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QUESTION THIS COURSE WAS BUILDING TOWARD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Are You Ready for CUSW 404?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Every simulation, case study, and rotation this semester fed toward one holistic judgment: your readiness to proceed toward CUSW 404 and eventual field placement. Today's certification names that judgment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THE 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Ready / Ready with Conditions / Not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THREE POSSIBLE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What Each One Means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C8102E"/>
                </a:solidFill>
                <a:latin typeface="Cambria"/>
              </a:rPr>
              <a:t>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Clear evidence across the semester's artifacts that you're prepared to proceed as-is.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8A6D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8A6D18"/>
                </a:solidFill>
                <a:latin typeface="Cambria"/>
              </a:rPr>
              <a:t>Ready with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Prepared overall, with specific named areas to address early in CUSW 404.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65960"/>
            <a:ext cx="3520440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8575">
            <a:solidFill>
              <a:srgbClr val="6B62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80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6B6259"/>
                </a:solidFill>
                <a:latin typeface="Cambria"/>
              </a:rPr>
              <a:t>Not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017520"/>
            <a:ext cx="28803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B1512"/>
                </a:solidFill>
                <a:latin typeface="Calibri"/>
              </a:rPr>
              <a:t>Significant concerns that require a structured plan before proceeding.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INDEPENDENT FROM YOUR 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Two Separate Tracks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10698480" cy="3291840"/>
          </a:xfrm>
          <a:prstGeom prst="roundRect">
            <a:avLst>
              <a:gd name="adj" fmla="val 4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AAA00"/>
                </a:solidFill>
                <a:latin typeface="Cambria"/>
              </a:rPr>
              <a:t>Your course grade and your readiness are not the same 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37560"/>
            <a:ext cx="9875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You can pass this course numerically and still receive “Ready with Conditions,” or in a serious case “Not Ready” — this evaluates practice readiness holistically, using your portfolio and rotation record, not just your weighted average.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IF YOU RECEIVE “NOT READY”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A Path Forward, Not a Dead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WHAT HAPPENS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The PPE Development and Improvement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A “Not Ready” outcome triggers a formal PPE Development and Improvement Plan — co-reviewed by your instructor and a second faculty reader, as a built-in safeguard against a single evaluator's judgment deciding your path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THE DIP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How It Actually Works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801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Two reviewers, not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6771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Your instructor and a second faculty reader both review the concern independently.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32232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488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Specific, named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6123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The plan identifies exactly what needs to change — not a vague “try harder.”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8158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8840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B1512"/>
                </a:solidFill>
                <a:latin typeface="Cambria"/>
              </a:rPr>
              <a:t>A defined path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254752"/>
            <a:ext cx="9326880" cy="103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6B6259"/>
                </a:solidFill>
                <a:latin typeface="Calibri"/>
              </a:rPr>
              <a:t>Concrete steps and a timeline toward re-evaluation — never an open-ended dead end.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EAAA00"/>
                </a:solidFill>
                <a:latin typeface="Calibri"/>
              </a:rPr>
              <a:t>MYTH VS. 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1">
                <a:solidFill>
                  <a:srgbClr val="FFFFFF"/>
                </a:solidFill>
                <a:latin typeface="Cambria"/>
              </a:rPr>
              <a:t>"A “Not Ready” outcome ends a student's path in the program."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063240"/>
            <a:ext cx="10515600" cy="2834640"/>
          </a:xfrm>
          <a:prstGeom prst="roundRect">
            <a:avLst>
              <a:gd name="adj" fmla="val 6000"/>
            </a:avLst>
          </a:prstGeom>
          <a:solidFill>
            <a:srgbClr val="2A22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AAA00"/>
                </a:solidFill>
                <a:latin typeface="Cambria"/>
              </a:rPr>
              <a:t>Reality: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840480"/>
            <a:ext cx="97840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It triggers a structured improvement plan with a defined path back — the same underlying philosophy as the Week 7 Benchmark Checkpoint: a readiness gate always comes with a way through it, never just a closed door.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Cambria"/>
              </a:rPr>
              <a:t>Final Exam &amp; Semester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CUMULATIVE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The Final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A cumulative exam covering the semester's core content — the GIM model, the three EPAS competencies assessed to mastery in this course, and the Afrocentric Perspective concepts from Module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BEFORE YOU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A Closing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058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0">
                <a:solidFill>
                  <a:srgbClr val="1B1512"/>
                </a:solidFill>
                <a:latin typeface="Calibri"/>
              </a:rPr>
              <a:t>Take a moment to reconsider your own Week 1 answer to “why social work, for you.” Fifteen weeks, three rotations, and one closely-observed case later — has your answer changed, sharpened, or stayed exactly the same?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8102E"/>
                </a:solidFill>
                <a:latin typeface="Calibri"/>
              </a:rPr>
              <a:t>DUE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B1512"/>
                </a:solidFill>
                <a:latin typeface="Cambria"/>
              </a:rPr>
              <a:t>Due This Week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10698480" cy="3840480"/>
          </a:xfrm>
          <a:prstGeom prst="roundRect">
            <a:avLst>
              <a:gd name="adj" fmla="val 4000"/>
            </a:avLst>
          </a:prstGeom>
          <a:solidFill>
            <a:srgbClr val="E3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B1512"/>
                </a:solidFill>
                <a:latin typeface="Cambria"/>
              </a:rPr>
              <a:t>Field Readiness Evaluation + Final Exam.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B1512"/>
                </a:solidFill>
                <a:latin typeface="Calibri"/>
              </a:rPr>
              <a:t>Complete the Final Exam and receive your Field Readiness certification (Ready / Ready with Conditions / Not Ready). If applicable, review your PPE Development and Improvement Plan with your instructor.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4348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8102E"/>
                </a:solidFill>
                <a:latin typeface="Calibri"/>
              </a:rPr>
              <a:t>Final Exam: 10% of course grade · Field Readiness: certification, not a 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B62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5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AAA00"/>
                </a:solidFill>
                <a:latin typeface="Calibri"/>
              </a:rPr>
              <a:t>CONGRATULATIONS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See You in CUSW 404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3DCCE"/>
                </a:solidFill>
                <a:latin typeface="Cambria"/>
              </a:rPr>
              <a:t>Thank you for this semester.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CUSW 403 · Module 8 · Week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E3DCC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