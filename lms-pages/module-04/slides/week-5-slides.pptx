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1371600"/>
            <a:ext cx="1033272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WHITNEY M. YOUNG, JR. SCHOOL OF SOCIAL WORK · CLARK ATLANTA UNIVERSITY</a:t>
            </a:r>
          </a:p>
        </p:txBody>
      </p:sp>
      <p:sp>
        <p:nvSpPr>
          <p:cNvPr id="3" name="TextBox 2"/>
          <p:cNvSpPr txBox="1"/>
          <p:nvPr/>
        </p:nvSpPr>
        <p:spPr>
          <a:xfrm>
            <a:off x="914400" y="1965960"/>
            <a:ext cx="10332720" cy="1005840"/>
          </a:xfrm>
          <a:prstGeom prst="rect">
            <a:avLst/>
          </a:prstGeom>
          <a:noFill/>
        </p:spPr>
        <p:txBody>
          <a:bodyPr wrap="square" anchor="t" lIns="0" rIns="0" tIns="0" bIns="0">
            <a:spAutoFit/>
          </a:bodyPr>
          <a:lstStyle/>
          <a:p>
            <a:pPr algn="l">
              <a:lnSpc>
                <a:spcPct val="115000"/>
              </a:lnSpc>
            </a:pPr>
            <a:r>
              <a:rPr sz="4000" b="1" i="0">
                <a:solidFill>
                  <a:srgbClr val="FFFFFF"/>
                </a:solidFill>
                <a:latin typeface="Cambria"/>
              </a:rPr>
              <a:t>CUSW 403 — Practice Competency I</a:t>
            </a:r>
          </a:p>
        </p:txBody>
      </p:sp>
      <p:sp>
        <p:nvSpPr>
          <p:cNvPr id="4" name="TextBox 3"/>
          <p:cNvSpPr txBox="1"/>
          <p:nvPr/>
        </p:nvSpPr>
        <p:spPr>
          <a:xfrm>
            <a:off x="914400" y="2926080"/>
            <a:ext cx="10332720" cy="457200"/>
          </a:xfrm>
          <a:prstGeom prst="rect">
            <a:avLst/>
          </a:prstGeom>
          <a:noFill/>
        </p:spPr>
        <p:txBody>
          <a:bodyPr wrap="square" anchor="t" lIns="0" rIns="0" tIns="0" bIns="0">
            <a:spAutoFit/>
          </a:bodyPr>
          <a:lstStyle/>
          <a:p>
            <a:pPr algn="l">
              <a:lnSpc>
                <a:spcPct val="115000"/>
              </a:lnSpc>
            </a:pPr>
            <a:r>
              <a:rPr sz="2000" b="1" i="0">
                <a:solidFill>
                  <a:srgbClr val="FF8A96"/>
                </a:solidFill>
                <a:latin typeface="Calibri"/>
              </a:rPr>
              <a:t>Module 4 · Week 5</a:t>
            </a:r>
          </a:p>
        </p:txBody>
      </p:sp>
      <p:sp>
        <p:nvSpPr>
          <p:cNvPr id="5" name="TextBox 4"/>
          <p:cNvSpPr txBox="1"/>
          <p:nvPr/>
        </p:nvSpPr>
        <p:spPr>
          <a:xfrm>
            <a:off x="914400" y="3429000"/>
            <a:ext cx="10332720" cy="822960"/>
          </a:xfrm>
          <a:prstGeom prst="rect">
            <a:avLst/>
          </a:prstGeom>
          <a:noFill/>
        </p:spPr>
        <p:txBody>
          <a:bodyPr wrap="square" anchor="t" lIns="0" rIns="0" tIns="0" bIns="0">
            <a:spAutoFit/>
          </a:bodyPr>
          <a:lstStyle/>
          <a:p>
            <a:pPr algn="l">
              <a:lnSpc>
                <a:spcPct val="115000"/>
              </a:lnSpc>
            </a:pPr>
            <a:r>
              <a:rPr sz="2600" b="0" i="1">
                <a:solidFill>
                  <a:srgbClr val="FFFFFF"/>
                </a:solidFill>
                <a:latin typeface="Cambria"/>
              </a:rPr>
              <a:t>Multidimensional Assessment &amp; the First Client Case Launch</a:t>
            </a:r>
          </a:p>
        </p:txBody>
      </p:sp>
      <p:sp>
        <p:nvSpPr>
          <p:cNvPr id="6" name="Rectangle 5"/>
          <p:cNvSpPr/>
          <p:nvPr/>
        </p:nvSpPr>
        <p:spPr>
          <a:xfrm>
            <a:off x="914400" y="4343400"/>
            <a:ext cx="2011680" cy="38100"/>
          </a:xfrm>
          <a:prstGeom prst="rect">
            <a:avLst/>
          </a:prstGeom>
          <a:solidFill>
            <a:srgbClr val="EA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5486400" cy="365760"/>
          </a:xfrm>
          <a:prstGeom prst="rect">
            <a:avLst/>
          </a:prstGeom>
          <a:noFill/>
        </p:spPr>
        <p:txBody>
          <a:bodyPr wrap="square" anchor="t" lIns="0" rIns="0" tIns="0" bIns="0">
            <a:spAutoFit/>
          </a:bodyPr>
          <a:lstStyle/>
          <a:p>
            <a:pPr algn="l">
              <a:lnSpc>
                <a:spcPct val="115000"/>
              </a:lnSpc>
            </a:pPr>
            <a:r>
              <a:rPr sz="1500" b="0" i="0">
                <a:solidFill>
                  <a:srgbClr val="E3DCCE"/>
                </a:solidFill>
                <a:latin typeface="Calibri"/>
              </a:rPr>
              <a:t>Dr. Ivis Renee King</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5</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TODAY'S SESSION</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Where We're Headed</a:t>
            </a:r>
          </a:p>
        </p:txBody>
      </p:sp>
      <p:sp>
        <p:nvSpPr>
          <p:cNvPr id="4" name="Oval 3"/>
          <p:cNvSpPr/>
          <p:nvPr/>
        </p:nvSpPr>
        <p:spPr>
          <a:xfrm>
            <a:off x="64008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64008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From Engagement to Assessment</a:t>
            </a:r>
          </a:p>
        </p:txBody>
      </p:sp>
      <p:sp>
        <p:nvSpPr>
          <p:cNvPr id="6" name="Oval 5"/>
          <p:cNvSpPr/>
          <p:nvPr/>
        </p:nvSpPr>
        <p:spPr>
          <a:xfrm>
            <a:off x="4251960" y="1874519"/>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2</a:t>
            </a:r>
          </a:p>
        </p:txBody>
      </p:sp>
      <p:sp>
        <p:nvSpPr>
          <p:cNvPr id="7" name="TextBox 6"/>
          <p:cNvSpPr txBox="1"/>
          <p:nvPr/>
        </p:nvSpPr>
        <p:spPr>
          <a:xfrm>
            <a:off x="425196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Multidimensional Assessment</a:t>
            </a:r>
          </a:p>
        </p:txBody>
      </p:sp>
      <p:sp>
        <p:nvSpPr>
          <p:cNvPr id="8" name="Oval 7"/>
          <p:cNvSpPr/>
          <p:nvPr/>
        </p:nvSpPr>
        <p:spPr>
          <a:xfrm>
            <a:off x="786384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9" name="TextBox 8"/>
          <p:cNvSpPr txBox="1"/>
          <p:nvPr/>
        </p:nvSpPr>
        <p:spPr>
          <a:xfrm>
            <a:off x="786384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Genograms</a:t>
            </a:r>
          </a:p>
        </p:txBody>
      </p:sp>
      <p:sp>
        <p:nvSpPr>
          <p:cNvPr id="10" name="Oval 9"/>
          <p:cNvSpPr/>
          <p:nvPr/>
        </p:nvSpPr>
        <p:spPr>
          <a:xfrm>
            <a:off x="64008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4</a:t>
            </a:r>
          </a:p>
        </p:txBody>
      </p:sp>
      <p:sp>
        <p:nvSpPr>
          <p:cNvPr id="11" name="TextBox 10"/>
          <p:cNvSpPr txBox="1"/>
          <p:nvPr/>
        </p:nvSpPr>
        <p:spPr>
          <a:xfrm>
            <a:off x="64008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Meet Your Case Group</a:t>
            </a:r>
          </a:p>
        </p:txBody>
      </p:sp>
      <p:sp>
        <p:nvSpPr>
          <p:cNvPr id="12" name="Oval 11"/>
          <p:cNvSpPr/>
          <p:nvPr/>
        </p:nvSpPr>
        <p:spPr>
          <a:xfrm>
            <a:off x="4251960" y="34290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5</a:t>
            </a:r>
          </a:p>
        </p:txBody>
      </p:sp>
      <p:sp>
        <p:nvSpPr>
          <p:cNvPr id="13" name="TextBox 12"/>
          <p:cNvSpPr txBox="1"/>
          <p:nvPr/>
        </p:nvSpPr>
        <p:spPr>
          <a:xfrm>
            <a:off x="425196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Case-Staffing Format</a:t>
            </a:r>
          </a:p>
        </p:txBody>
      </p:sp>
      <p:sp>
        <p:nvSpPr>
          <p:cNvPr id="14" name="Oval 13"/>
          <p:cNvSpPr/>
          <p:nvPr/>
        </p:nvSpPr>
        <p:spPr>
          <a:xfrm>
            <a:off x="786384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6</a:t>
            </a:r>
          </a:p>
        </p:txBody>
      </p:sp>
      <p:sp>
        <p:nvSpPr>
          <p:cNvPr id="15" name="TextBox 14"/>
          <p:cNvSpPr txBox="1"/>
          <p:nvPr/>
        </p:nvSpPr>
        <p:spPr>
          <a:xfrm>
            <a:off x="786384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This Week's Deliverables</a:t>
            </a:r>
          </a:p>
        </p:txBody>
      </p:sp>
      <p:sp>
        <p:nvSpPr>
          <p:cNvPr id="16" name="TextBox 15"/>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17" name="TextBox 16"/>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WHERE WE ARE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Assessment in the GIM Model</a:t>
            </a:r>
          </a:p>
        </p:txBody>
      </p:sp>
      <p:sp>
        <p:nvSpPr>
          <p:cNvPr id="4" name="Oval 3"/>
          <p:cNvSpPr/>
          <p:nvPr/>
        </p:nvSpPr>
        <p:spPr>
          <a:xfrm>
            <a:off x="996696"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1</a:t>
            </a:r>
          </a:p>
        </p:txBody>
      </p:sp>
      <p:sp>
        <p:nvSpPr>
          <p:cNvPr id="5" name="TextBox 4"/>
          <p:cNvSpPr txBox="1"/>
          <p:nvPr/>
        </p:nvSpPr>
        <p:spPr>
          <a:xfrm>
            <a:off x="594360"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Engagement</a:t>
            </a:r>
          </a:p>
        </p:txBody>
      </p:sp>
      <p:sp>
        <p:nvSpPr>
          <p:cNvPr id="6" name="Chevron 5"/>
          <p:cNvSpPr/>
          <p:nvPr/>
        </p:nvSpPr>
        <p:spPr>
          <a:xfrm>
            <a:off x="2045512"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587752" y="2331720"/>
            <a:ext cx="621792" cy="6217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Cambria"/>
              </a:rPr>
              <a:t>2</a:t>
            </a:r>
          </a:p>
        </p:txBody>
      </p:sp>
      <p:sp>
        <p:nvSpPr>
          <p:cNvPr id="8" name="TextBox 7"/>
          <p:cNvSpPr txBox="1"/>
          <p:nvPr/>
        </p:nvSpPr>
        <p:spPr>
          <a:xfrm>
            <a:off x="2185416"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Assessment</a:t>
            </a:r>
          </a:p>
        </p:txBody>
      </p:sp>
      <p:sp>
        <p:nvSpPr>
          <p:cNvPr id="9" name="Chevron 8"/>
          <p:cNvSpPr/>
          <p:nvPr/>
        </p:nvSpPr>
        <p:spPr>
          <a:xfrm>
            <a:off x="3636568"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178808"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3</a:t>
            </a:r>
          </a:p>
        </p:txBody>
      </p:sp>
      <p:sp>
        <p:nvSpPr>
          <p:cNvPr id="11" name="TextBox 10"/>
          <p:cNvSpPr txBox="1"/>
          <p:nvPr/>
        </p:nvSpPr>
        <p:spPr>
          <a:xfrm>
            <a:off x="3776472"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Planning</a:t>
            </a:r>
          </a:p>
        </p:txBody>
      </p:sp>
      <p:sp>
        <p:nvSpPr>
          <p:cNvPr id="12" name="Chevron 11"/>
          <p:cNvSpPr/>
          <p:nvPr/>
        </p:nvSpPr>
        <p:spPr>
          <a:xfrm>
            <a:off x="5227624"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9864"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4</a:t>
            </a:r>
          </a:p>
        </p:txBody>
      </p:sp>
      <p:sp>
        <p:nvSpPr>
          <p:cNvPr id="14" name="TextBox 13"/>
          <p:cNvSpPr txBox="1"/>
          <p:nvPr/>
        </p:nvSpPr>
        <p:spPr>
          <a:xfrm>
            <a:off x="5367528"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Implementation</a:t>
            </a:r>
          </a:p>
        </p:txBody>
      </p:sp>
      <p:sp>
        <p:nvSpPr>
          <p:cNvPr id="15" name="Chevron 14"/>
          <p:cNvSpPr/>
          <p:nvPr/>
        </p:nvSpPr>
        <p:spPr>
          <a:xfrm>
            <a:off x="6818680"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60920"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5</a:t>
            </a:r>
          </a:p>
        </p:txBody>
      </p:sp>
      <p:sp>
        <p:nvSpPr>
          <p:cNvPr id="17" name="TextBox 16"/>
          <p:cNvSpPr txBox="1"/>
          <p:nvPr/>
        </p:nvSpPr>
        <p:spPr>
          <a:xfrm>
            <a:off x="6958584"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Evaluation</a:t>
            </a:r>
          </a:p>
        </p:txBody>
      </p:sp>
      <p:sp>
        <p:nvSpPr>
          <p:cNvPr id="18" name="Chevron 17"/>
          <p:cNvSpPr/>
          <p:nvPr/>
        </p:nvSpPr>
        <p:spPr>
          <a:xfrm>
            <a:off x="8409736"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951976"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6</a:t>
            </a:r>
          </a:p>
        </p:txBody>
      </p:sp>
      <p:sp>
        <p:nvSpPr>
          <p:cNvPr id="20" name="TextBox 19"/>
          <p:cNvSpPr txBox="1"/>
          <p:nvPr/>
        </p:nvSpPr>
        <p:spPr>
          <a:xfrm>
            <a:off x="8549640"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Termination</a:t>
            </a:r>
          </a:p>
        </p:txBody>
      </p:sp>
      <p:sp>
        <p:nvSpPr>
          <p:cNvPr id="21" name="Chevron 20"/>
          <p:cNvSpPr/>
          <p:nvPr/>
        </p:nvSpPr>
        <p:spPr>
          <a:xfrm>
            <a:off x="10000792" y="2450592"/>
            <a:ext cx="148132" cy="384048"/>
          </a:xfrm>
          <a:prstGeom prst="chevron">
            <a:avLst/>
          </a:prstGeom>
          <a:solidFill>
            <a:srgbClr val="E3DC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543032" y="2331720"/>
            <a:ext cx="621792" cy="621792"/>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1B1512"/>
                </a:solidFill>
                <a:latin typeface="Cambria"/>
              </a:rPr>
              <a:t>7</a:t>
            </a:r>
          </a:p>
        </p:txBody>
      </p:sp>
      <p:sp>
        <p:nvSpPr>
          <p:cNvPr id="23" name="TextBox 22"/>
          <p:cNvSpPr txBox="1"/>
          <p:nvPr/>
        </p:nvSpPr>
        <p:spPr>
          <a:xfrm>
            <a:off x="10140696" y="3154680"/>
            <a:ext cx="1426464" cy="914400"/>
          </a:xfrm>
          <a:prstGeom prst="rect">
            <a:avLst/>
          </a:prstGeom>
          <a:noFill/>
        </p:spPr>
        <p:txBody>
          <a:bodyPr wrap="square" anchor="t" lIns="0" rIns="0" tIns="0" bIns="0">
            <a:spAutoFit/>
          </a:bodyPr>
          <a:lstStyle/>
          <a:p>
            <a:pPr algn="ctr">
              <a:lnSpc>
                <a:spcPct val="105000"/>
              </a:lnSpc>
            </a:pPr>
            <a:r>
              <a:rPr sz="1250" b="1" i="0">
                <a:solidFill>
                  <a:srgbClr val="1B1512"/>
                </a:solidFill>
                <a:latin typeface="Cambria"/>
              </a:rPr>
              <a:t>Follow-Up</a:t>
            </a:r>
          </a:p>
        </p:txBody>
      </p:sp>
      <p:sp>
        <p:nvSpPr>
          <p:cNvPr id="24" name="TextBox 23"/>
          <p:cNvSpPr txBox="1"/>
          <p:nvPr/>
        </p:nvSpPr>
        <p:spPr>
          <a:xfrm>
            <a:off x="640080" y="4663440"/>
            <a:ext cx="10515600" cy="1097280"/>
          </a:xfrm>
          <a:prstGeom prst="rect">
            <a:avLst/>
          </a:prstGeom>
          <a:noFill/>
        </p:spPr>
        <p:txBody>
          <a:bodyPr wrap="square" anchor="t" lIns="0" rIns="0" tIns="0" bIns="0">
            <a:spAutoFit/>
          </a:bodyPr>
          <a:lstStyle/>
          <a:p>
            <a:pPr algn="l">
              <a:lnSpc>
                <a:spcPct val="115000"/>
              </a:lnSpc>
            </a:pPr>
            <a:r>
              <a:rPr sz="1500" b="0" i="1">
                <a:solidFill>
                  <a:srgbClr val="6B6259"/>
                </a:solidFill>
                <a:latin typeface="Calibri"/>
              </a:rPr>
              <a:t>Modules 3–4 carry you through Engagement into Assessment and Planning — the heart of Phase 1.</a:t>
            </a:r>
          </a:p>
        </p:txBody>
      </p:sp>
      <p:sp>
        <p:nvSpPr>
          <p:cNvPr id="25" name="TextBox 2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26" name="TextBox 2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A NEW KIND OF LOOKING</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“Multidimensional” Means</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Multidimensional assessment looks at a client system biopsychosocially and spiritually — not reducing a person to their presenting problem, but building a fuller picture of biological, psychological, social, and spiritual dimensions, always anchored in strengths as much as concerns.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FOUR DIMENSIONS</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You're Assessing</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Biological</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Health conditions, developmental history, physical stressors.</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Psychological</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Coping patterns, mental health history, sense of self.</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Social &amp; spiritual</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Relationships, culture, community, meaning-making.</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MYTH VS. REALITY</a:t>
            </a:r>
          </a:p>
        </p:txBody>
      </p:sp>
      <p:sp>
        <p:nvSpPr>
          <p:cNvPr id="3" name="TextBox 2"/>
          <p:cNvSpPr txBox="1"/>
          <p:nvPr/>
        </p:nvSpPr>
        <p:spPr>
          <a:xfrm>
            <a:off x="822960" y="1737360"/>
            <a:ext cx="10515600" cy="1188720"/>
          </a:xfrm>
          <a:prstGeom prst="rect">
            <a:avLst/>
          </a:prstGeom>
          <a:noFill/>
        </p:spPr>
        <p:txBody>
          <a:bodyPr wrap="square" anchor="t" lIns="0" rIns="0" tIns="0" bIns="0">
            <a:spAutoFit/>
          </a:bodyPr>
          <a:lstStyle/>
          <a:p>
            <a:pPr algn="l">
              <a:lnSpc>
                <a:spcPct val="115000"/>
              </a:lnSpc>
            </a:pPr>
            <a:r>
              <a:rPr sz="3000" b="1" i="1">
                <a:solidFill>
                  <a:srgbClr val="FFFFFF"/>
                </a:solidFill>
                <a:latin typeface="Cambria"/>
              </a:rPr>
              <a:t>"Assessment is about identifying what's wrong."</a:t>
            </a:r>
          </a:p>
        </p:txBody>
      </p:sp>
      <p:sp>
        <p:nvSpPr>
          <p:cNvPr id="4" name="Rounded Rectangle 3"/>
          <p:cNvSpPr/>
          <p:nvPr/>
        </p:nvSpPr>
        <p:spPr>
          <a:xfrm>
            <a:off x="822960" y="3063240"/>
            <a:ext cx="10515600" cy="2834640"/>
          </a:xfrm>
          <a:prstGeom prst="roundRect">
            <a:avLst>
              <a:gd name="adj" fmla="val 6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383280"/>
            <a:ext cx="2743200" cy="457200"/>
          </a:xfrm>
          <a:prstGeom prst="rect">
            <a:avLst/>
          </a:prstGeom>
          <a:noFill/>
        </p:spPr>
        <p:txBody>
          <a:bodyPr wrap="square" anchor="t" lIns="0" rIns="0" tIns="0" bIns="0">
            <a:spAutoFit/>
          </a:bodyPr>
          <a:lstStyle/>
          <a:p>
            <a:pPr algn="l">
              <a:lnSpc>
                <a:spcPct val="115000"/>
              </a:lnSpc>
            </a:pPr>
            <a:r>
              <a:rPr sz="1800" b="1" i="0">
                <a:solidFill>
                  <a:srgbClr val="EAAA00"/>
                </a:solidFill>
                <a:latin typeface="Cambria"/>
              </a:rPr>
              <a:t>Reality:</a:t>
            </a:r>
          </a:p>
        </p:txBody>
      </p:sp>
      <p:sp>
        <p:nvSpPr>
          <p:cNvPr id="6" name="TextBox 5"/>
          <p:cNvSpPr txBox="1"/>
          <p:nvPr/>
        </p:nvSpPr>
        <p:spPr>
          <a:xfrm>
            <a:off x="1188720" y="3840480"/>
            <a:ext cx="9784080" cy="192024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A strengths-based assessment gives equal weight to what's working — existing supports, resilience, and capacity — because the treatment plan you build in Week 6 will lean on those strengths as much as it addresses the concerns.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5</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TOOL</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Genograms</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5</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MAPPING THE FAMILY</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a Genogram Shows</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A genogram maps family structure across generations — relationships, roles, and recurring intergenerational patterns. It's a visual assessment tool, not a diagnosis: what it reveals should inform your group's questions, not settle them.</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BUILDING ONE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Genogram, Step by Step</a:t>
            </a:r>
          </a:p>
        </p:txBody>
      </p:sp>
      <p:sp>
        <p:nvSpPr>
          <p:cNvPr id="4" name="Oval 3"/>
          <p:cNvSpPr/>
          <p:nvPr/>
        </p:nvSpPr>
        <p:spPr>
          <a:xfrm>
            <a:off x="640080" y="18288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1600200" y="180136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Map the structure</a:t>
            </a:r>
          </a:p>
        </p:txBody>
      </p:sp>
      <p:sp>
        <p:nvSpPr>
          <p:cNvPr id="6" name="TextBox 5"/>
          <p:cNvSpPr txBox="1"/>
          <p:nvPr/>
        </p:nvSpPr>
        <p:spPr>
          <a:xfrm>
            <a:off x="1600200" y="226771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Household members, generations, and how they're related.</a:t>
            </a:r>
          </a:p>
        </p:txBody>
      </p:sp>
      <p:sp>
        <p:nvSpPr>
          <p:cNvPr id="7" name="Oval 6"/>
          <p:cNvSpPr/>
          <p:nvPr/>
        </p:nvSpPr>
        <p:spPr>
          <a:xfrm>
            <a:off x="640080" y="332232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2</a:t>
            </a:r>
          </a:p>
        </p:txBody>
      </p:sp>
      <p:sp>
        <p:nvSpPr>
          <p:cNvPr id="8" name="TextBox 7"/>
          <p:cNvSpPr txBox="1"/>
          <p:nvPr/>
        </p:nvSpPr>
        <p:spPr>
          <a:xfrm>
            <a:off x="1600200" y="329488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Add relationship lines</a:t>
            </a:r>
          </a:p>
        </p:txBody>
      </p:sp>
      <p:sp>
        <p:nvSpPr>
          <p:cNvPr id="9" name="TextBox 8"/>
          <p:cNvSpPr txBox="1"/>
          <p:nvPr/>
        </p:nvSpPr>
        <p:spPr>
          <a:xfrm>
            <a:off x="1600200" y="376123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Close, conflicted, cutoff — the quality of each connection, not just its existence.</a:t>
            </a:r>
          </a:p>
        </p:txBody>
      </p:sp>
      <p:sp>
        <p:nvSpPr>
          <p:cNvPr id="10" name="Oval 9"/>
          <p:cNvSpPr/>
          <p:nvPr/>
        </p:nvSpPr>
        <p:spPr>
          <a:xfrm>
            <a:off x="640080" y="481584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11" name="TextBox 10"/>
          <p:cNvSpPr txBox="1"/>
          <p:nvPr/>
        </p:nvSpPr>
        <p:spPr>
          <a:xfrm>
            <a:off x="1600200" y="478840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Note patterns</a:t>
            </a:r>
          </a:p>
        </p:txBody>
      </p:sp>
      <p:sp>
        <p:nvSpPr>
          <p:cNvPr id="12" name="TextBox 11"/>
          <p:cNvSpPr txBox="1"/>
          <p:nvPr/>
        </p:nvSpPr>
        <p:spPr>
          <a:xfrm>
            <a:off x="1600200" y="525475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Anything recurring across generations worth naming as a group.</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NO SPECIAL SOFTWARE NEEDED</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How to Actually Build It</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Genograms and ecomaps can be hand-drawn and scanned, or built in any diagramming tool such as Lucidchart. No specialized genogram software is required — the thinking matters far more than the tool.</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THE FIRST CLIENT CASE</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Your Case Group, Launched</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5</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SEMESTER-SPANNING</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the First Client Case Is</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A small-group case study running through all of Phase 1 (Weeks 5–7). Each group is assigned one fictional household from the Case Vignette Bank — six households varied across family structure and presenting concern, each deliberately left open rather than resolved, so your group does the assessing.</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TWO KINDS OF PRODUCT</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Group Work + Individual Voice</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Group product</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Genogram, Ecomap, and Treatment Plan — built together across Weeks 5–6.</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Individual product</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A short weekly reflection each student writes alone — never a group product.</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Case staffing</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Your group meets weekly to discuss the case; rotate who facilitates each session.</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YOUR REFLECTION</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the Weekly Reflection Connects</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Each week, individually, connect your case-staffing discussion to four things: the week's assigned reading, the NASW Code of Ethics, the relevant EPAS Competencies, and the Afrocentric Perspective. This is where your own professional voice shows up, separate from the group's shared documents.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THE CASE VIGNETTE BANK</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Six Households, Deliberately Unresolved</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The bank includes households varied across structure and presenting concern — a multigenerational family, a family navigating immigration and acculturation, and others reflecting the range of real practice. None come with a stated “right answer” — your group's job is to assess, not to guess what the instructor intended.</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FACILITATION ROTATES</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Running a Case-Staffing Session</a:t>
            </a:r>
          </a:p>
        </p:txBody>
      </p:sp>
      <p:sp>
        <p:nvSpPr>
          <p:cNvPr id="4" name="Oval 3"/>
          <p:cNvSpPr/>
          <p:nvPr/>
        </p:nvSpPr>
        <p:spPr>
          <a:xfrm>
            <a:off x="640080" y="18288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1600200" y="180136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Open with the reading</a:t>
            </a:r>
          </a:p>
        </p:txBody>
      </p:sp>
      <p:sp>
        <p:nvSpPr>
          <p:cNvPr id="6" name="TextBox 5"/>
          <p:cNvSpPr txBox="1"/>
          <p:nvPr/>
        </p:nvSpPr>
        <p:spPr>
          <a:xfrm>
            <a:off x="1600200" y="226771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Ground today's discussion in this week's assigned chapter before diving into the case.</a:t>
            </a:r>
          </a:p>
        </p:txBody>
      </p:sp>
      <p:sp>
        <p:nvSpPr>
          <p:cNvPr id="7" name="Oval 6"/>
          <p:cNvSpPr/>
          <p:nvPr/>
        </p:nvSpPr>
        <p:spPr>
          <a:xfrm>
            <a:off x="640080" y="332232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2</a:t>
            </a:r>
          </a:p>
        </p:txBody>
      </p:sp>
      <p:sp>
        <p:nvSpPr>
          <p:cNvPr id="8" name="TextBox 7"/>
          <p:cNvSpPr txBox="1"/>
          <p:nvPr/>
        </p:nvSpPr>
        <p:spPr>
          <a:xfrm>
            <a:off x="1600200" y="329488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Walk the case together</a:t>
            </a:r>
          </a:p>
        </p:txBody>
      </p:sp>
      <p:sp>
        <p:nvSpPr>
          <p:cNvPr id="9" name="TextBox 8"/>
          <p:cNvSpPr txBox="1"/>
          <p:nvPr/>
        </p:nvSpPr>
        <p:spPr>
          <a:xfrm>
            <a:off x="1600200" y="376123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Facilitator keeps the group moving through assessment, not just free-associating.</a:t>
            </a:r>
          </a:p>
        </p:txBody>
      </p:sp>
      <p:sp>
        <p:nvSpPr>
          <p:cNvPr id="10" name="Oval 9"/>
          <p:cNvSpPr/>
          <p:nvPr/>
        </p:nvSpPr>
        <p:spPr>
          <a:xfrm>
            <a:off x="640080" y="481584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11" name="TextBox 10"/>
          <p:cNvSpPr txBox="1"/>
          <p:nvPr/>
        </p:nvSpPr>
        <p:spPr>
          <a:xfrm>
            <a:off x="1600200" y="478840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Assign next week's tasks</a:t>
            </a:r>
          </a:p>
        </p:txBody>
      </p:sp>
      <p:sp>
        <p:nvSpPr>
          <p:cNvPr id="12" name="TextBox 11"/>
          <p:cNvSpPr txBox="1"/>
          <p:nvPr/>
        </p:nvSpPr>
        <p:spPr>
          <a:xfrm>
            <a:off x="1600200" y="525475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Who's drafting which section of the ecomap or treatment plan before you meet again.</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AHEAD</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FFFFFF"/>
                </a:solidFill>
                <a:latin typeface="Cambria"/>
              </a:rPr>
              <a:t>Week 7 — the Benchmark Checkpoint</a:t>
            </a:r>
          </a:p>
        </p:txBody>
      </p:sp>
      <p:sp>
        <p:nvSpPr>
          <p:cNvPr id="4" name="Rounded Rectangle 3"/>
          <p:cNvSpPr/>
          <p:nvPr/>
        </p:nvSpPr>
        <p:spPr>
          <a:xfrm>
            <a:off x="640080" y="2377440"/>
            <a:ext cx="10698480" cy="3291840"/>
          </a:xfrm>
          <a:prstGeom prst="roundRect">
            <a:avLst>
              <a:gd name="adj" fmla="val 4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697480"/>
            <a:ext cx="10058400" cy="548640"/>
          </a:xfrm>
          <a:prstGeom prst="rect">
            <a:avLst/>
          </a:prstGeom>
          <a:noFill/>
        </p:spPr>
        <p:txBody>
          <a:bodyPr wrap="square" anchor="t" lIns="0" rIns="0" tIns="0" bIns="0">
            <a:spAutoFit/>
          </a:bodyPr>
          <a:lstStyle/>
          <a:p>
            <a:pPr algn="l">
              <a:lnSpc>
                <a:spcPct val="115000"/>
              </a:lnSpc>
            </a:pPr>
            <a:r>
              <a:rPr sz="2200" b="1" i="0">
                <a:solidFill>
                  <a:srgbClr val="EAAA00"/>
                </a:solidFill>
                <a:latin typeface="Cambria"/>
              </a:rPr>
              <a:t>A readiness gate, not just a grade.</a:t>
            </a:r>
          </a:p>
        </p:txBody>
      </p:sp>
      <p:sp>
        <p:nvSpPr>
          <p:cNvPr id="6" name="TextBox 5"/>
          <p:cNvSpPr txBox="1"/>
          <p:nvPr/>
        </p:nvSpPr>
        <p:spPr>
          <a:xfrm>
            <a:off x="1051560" y="3337560"/>
            <a:ext cx="9875520" cy="210312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The Benchmark Checkpoint at the end of this module scores both your group's case materials and each student's individual reflections — minimum 80% is required to advance into Phase 2's agency rotations.</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5</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DUE THIS WEEK</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Due This Week</a:t>
            </a:r>
          </a:p>
        </p:txBody>
      </p:sp>
      <p:sp>
        <p:nvSpPr>
          <p:cNvPr id="4" name="Rounded Rectangle 3"/>
          <p:cNvSpPr/>
          <p:nvPr/>
        </p:nvSpPr>
        <p:spPr>
          <a:xfrm>
            <a:off x="640080" y="1920240"/>
            <a:ext cx="10698480" cy="3840480"/>
          </a:xfrm>
          <a:prstGeom prst="roundRect">
            <a:avLst>
              <a:gd name="adj" fmla="val 4000"/>
            </a:avLst>
          </a:prstGeom>
          <a:solidFill>
            <a:srgbClr val="E3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286000"/>
            <a:ext cx="9601200" cy="548640"/>
          </a:xfrm>
          <a:prstGeom prst="rect">
            <a:avLst/>
          </a:prstGeom>
          <a:noFill/>
        </p:spPr>
        <p:txBody>
          <a:bodyPr wrap="square" anchor="t" lIns="0" rIns="0" tIns="0" bIns="0">
            <a:spAutoFit/>
          </a:bodyPr>
          <a:lstStyle/>
          <a:p>
            <a:pPr algn="l">
              <a:lnSpc>
                <a:spcPct val="115000"/>
              </a:lnSpc>
            </a:pPr>
            <a:r>
              <a:rPr sz="2000" b="1" i="0">
                <a:solidFill>
                  <a:srgbClr val="1B1512"/>
                </a:solidFill>
                <a:latin typeface="Cambria"/>
              </a:rPr>
              <a:t>Genogram (group) + Weekly Reflection #1 (individual).</a:t>
            </a:r>
          </a:p>
        </p:txBody>
      </p:sp>
      <p:sp>
        <p:nvSpPr>
          <p:cNvPr id="6" name="TextBox 5"/>
          <p:cNvSpPr txBox="1"/>
          <p:nvPr/>
        </p:nvSpPr>
        <p:spPr>
          <a:xfrm>
            <a:off x="1051560" y="2971800"/>
            <a:ext cx="9601200" cy="1371600"/>
          </a:xfrm>
          <a:prstGeom prst="rect">
            <a:avLst/>
          </a:prstGeom>
          <a:noFill/>
        </p:spPr>
        <p:txBody>
          <a:bodyPr wrap="square" anchor="t" lIns="0" rIns="0" tIns="0" bIns="0">
            <a:spAutoFit/>
          </a:bodyPr>
          <a:lstStyle/>
          <a:p>
            <a:pPr algn="l">
              <a:lnSpc>
                <a:spcPct val="130000"/>
              </a:lnSpc>
            </a:pPr>
            <a:r>
              <a:rPr sz="1700" b="0" i="0">
                <a:solidFill>
                  <a:srgbClr val="1B1512"/>
                </a:solidFill>
                <a:latin typeface="Calibri"/>
              </a:rPr>
              <a:t>Submit your group's genogram for your assigned case, along with your own individual weekly reflection connecting this week's case-staffing discussion to the reading, NASW ethics, EPAS competencies, and the Afrocentric Perspective.</a:t>
            </a:r>
          </a:p>
        </p:txBody>
      </p:sp>
      <p:sp>
        <p:nvSpPr>
          <p:cNvPr id="7" name="TextBox 6"/>
          <p:cNvSpPr txBox="1"/>
          <p:nvPr/>
        </p:nvSpPr>
        <p:spPr>
          <a:xfrm>
            <a:off x="1051560" y="4434840"/>
            <a:ext cx="9601200" cy="548640"/>
          </a:xfrm>
          <a:prstGeom prst="rect">
            <a:avLst/>
          </a:prstGeom>
          <a:noFill/>
        </p:spPr>
        <p:txBody>
          <a:bodyPr wrap="square" anchor="t" lIns="0" rIns="0" tIns="0" bIns="0">
            <a:spAutoFit/>
          </a:bodyPr>
          <a:lstStyle/>
          <a:p>
            <a:pPr algn="l">
              <a:lnSpc>
                <a:spcPct val="115000"/>
              </a:lnSpc>
            </a:pPr>
            <a:r>
              <a:rPr sz="1500" b="1" i="0">
                <a:solidFill>
                  <a:srgbClr val="C8102E"/>
                </a:solidFill>
                <a:latin typeface="Calibri"/>
              </a:rPr>
              <a:t>Reading: Hepworth Ch. 8–9 · First Client Case is worth 15% of course grade overall</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4 · Week 5</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28600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NEXT WEEK</a:t>
            </a:r>
          </a:p>
        </p:txBody>
      </p:sp>
      <p:sp>
        <p:nvSpPr>
          <p:cNvPr id="3" name="TextBox 2"/>
          <p:cNvSpPr txBox="1"/>
          <p:nvPr/>
        </p:nvSpPr>
        <p:spPr>
          <a:xfrm>
            <a:off x="914400" y="2743200"/>
            <a:ext cx="10332720" cy="1005840"/>
          </a:xfrm>
          <a:prstGeom prst="rect">
            <a:avLst/>
          </a:prstGeom>
          <a:noFill/>
        </p:spPr>
        <p:txBody>
          <a:bodyPr wrap="square" anchor="t" lIns="0" rIns="0" tIns="0" bIns="0">
            <a:spAutoFit/>
          </a:bodyPr>
          <a:lstStyle/>
          <a:p>
            <a:pPr algn="l">
              <a:lnSpc>
                <a:spcPct val="115000"/>
              </a:lnSpc>
            </a:pPr>
            <a:r>
              <a:rPr sz="3200" b="1" i="0">
                <a:solidFill>
                  <a:srgbClr val="FFFFFF"/>
                </a:solidFill>
                <a:latin typeface="Cambria"/>
              </a:rPr>
              <a:t>Week 6 — Ecomaps &amp; Goal Contracting</a:t>
            </a:r>
          </a:p>
        </p:txBody>
      </p:sp>
      <p:sp>
        <p:nvSpPr>
          <p:cNvPr id="4" name="TextBox 3"/>
          <p:cNvSpPr txBox="1"/>
          <p:nvPr/>
        </p:nvSpPr>
        <p:spPr>
          <a:xfrm>
            <a:off x="914400" y="4023360"/>
            <a:ext cx="10332720" cy="731520"/>
          </a:xfrm>
          <a:prstGeom prst="rect">
            <a:avLst/>
          </a:prstGeom>
          <a:noFill/>
        </p:spPr>
        <p:txBody>
          <a:bodyPr wrap="square" anchor="t" lIns="0" rIns="0" tIns="0" bIns="0">
            <a:spAutoFit/>
          </a:bodyPr>
          <a:lstStyle/>
          <a:p>
            <a:pPr algn="l">
              <a:lnSpc>
                <a:spcPct val="115000"/>
              </a:lnSpc>
            </a:pPr>
            <a:r>
              <a:rPr sz="2400" b="0" i="1">
                <a:solidFill>
                  <a:srgbClr val="E3DCCE"/>
                </a:solidFill>
                <a:latin typeface="Cambria"/>
              </a:rPr>
              <a:t>Questions?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4 · Week 5</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