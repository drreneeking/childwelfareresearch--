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1371600"/>
            <a:ext cx="1033272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WHITNEY M. YOUNG, JR. SCHOOL OF SOCIAL WORK · CLARK ATLANTA UNIVERSITY</a:t>
            </a:r>
          </a:p>
        </p:txBody>
      </p:sp>
      <p:sp>
        <p:nvSpPr>
          <p:cNvPr id="3" name="TextBox 2"/>
          <p:cNvSpPr txBox="1"/>
          <p:nvPr/>
        </p:nvSpPr>
        <p:spPr>
          <a:xfrm>
            <a:off x="914400" y="1965960"/>
            <a:ext cx="10332720" cy="1005840"/>
          </a:xfrm>
          <a:prstGeom prst="rect">
            <a:avLst/>
          </a:prstGeom>
          <a:noFill/>
        </p:spPr>
        <p:txBody>
          <a:bodyPr wrap="square" anchor="t" lIns="0" rIns="0" tIns="0" bIns="0">
            <a:spAutoFit/>
          </a:bodyPr>
          <a:lstStyle/>
          <a:p>
            <a:pPr algn="l">
              <a:lnSpc>
                <a:spcPct val="115000"/>
              </a:lnSpc>
            </a:pPr>
            <a:r>
              <a:rPr sz="4000" b="1" i="0">
                <a:solidFill>
                  <a:srgbClr val="FFFFFF"/>
                </a:solidFill>
                <a:latin typeface="Cambria"/>
              </a:rPr>
              <a:t>CUSW 403 — Practice Competency I</a:t>
            </a:r>
          </a:p>
        </p:txBody>
      </p:sp>
      <p:sp>
        <p:nvSpPr>
          <p:cNvPr id="4" name="TextBox 3"/>
          <p:cNvSpPr txBox="1"/>
          <p:nvPr/>
        </p:nvSpPr>
        <p:spPr>
          <a:xfrm>
            <a:off x="914400" y="2926080"/>
            <a:ext cx="10332720" cy="457200"/>
          </a:xfrm>
          <a:prstGeom prst="rect">
            <a:avLst/>
          </a:prstGeom>
          <a:noFill/>
        </p:spPr>
        <p:txBody>
          <a:bodyPr wrap="square" anchor="t" lIns="0" rIns="0" tIns="0" bIns="0">
            <a:spAutoFit/>
          </a:bodyPr>
          <a:lstStyle/>
          <a:p>
            <a:pPr algn="l">
              <a:lnSpc>
                <a:spcPct val="115000"/>
              </a:lnSpc>
            </a:pPr>
            <a:r>
              <a:rPr sz="2000" b="1" i="0">
                <a:solidFill>
                  <a:srgbClr val="FF8A96"/>
                </a:solidFill>
                <a:latin typeface="Calibri"/>
              </a:rPr>
              <a:t>Module 4 · Week 7</a:t>
            </a:r>
          </a:p>
        </p:txBody>
      </p:sp>
      <p:sp>
        <p:nvSpPr>
          <p:cNvPr id="5" name="TextBox 4"/>
          <p:cNvSpPr txBox="1"/>
          <p:nvPr/>
        </p:nvSpPr>
        <p:spPr>
          <a:xfrm>
            <a:off x="914400" y="3429000"/>
            <a:ext cx="10332720" cy="822960"/>
          </a:xfrm>
          <a:prstGeom prst="rect">
            <a:avLst/>
          </a:prstGeom>
          <a:noFill/>
        </p:spPr>
        <p:txBody>
          <a:bodyPr wrap="square" anchor="t" lIns="0" rIns="0" tIns="0" bIns="0">
            <a:spAutoFit/>
          </a:bodyPr>
          <a:lstStyle/>
          <a:p>
            <a:pPr algn="l">
              <a:lnSpc>
                <a:spcPct val="115000"/>
              </a:lnSpc>
            </a:pPr>
            <a:r>
              <a:rPr sz="2600" b="0" i="1">
                <a:solidFill>
                  <a:srgbClr val="FFFFFF"/>
                </a:solidFill>
                <a:latin typeface="Cambria"/>
              </a:rPr>
              <a:t>Phase 1 Wrap-Up &amp; the Benchmark Checkpoint</a:t>
            </a:r>
          </a:p>
        </p:txBody>
      </p:sp>
      <p:sp>
        <p:nvSpPr>
          <p:cNvPr id="6" name="Rectangle 5"/>
          <p:cNvSpPr/>
          <p:nvPr/>
        </p:nvSpPr>
        <p:spPr>
          <a:xfrm>
            <a:off x="914400" y="4343400"/>
            <a:ext cx="2011680" cy="38100"/>
          </a:xfrm>
          <a:prstGeom prst="rect">
            <a:avLst/>
          </a:prstGeom>
          <a:solidFill>
            <a:srgbClr val="EA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5486400" cy="365760"/>
          </a:xfrm>
          <a:prstGeom prst="rect">
            <a:avLst/>
          </a:prstGeom>
          <a:noFill/>
        </p:spPr>
        <p:txBody>
          <a:bodyPr wrap="square" anchor="t" lIns="0" rIns="0" tIns="0" bIns="0">
            <a:spAutoFit/>
          </a:bodyPr>
          <a:lstStyle/>
          <a:p>
            <a:pPr algn="l">
              <a:lnSpc>
                <a:spcPct val="115000"/>
              </a:lnSpc>
            </a:pPr>
            <a:r>
              <a:rPr sz="1500" b="0" i="0">
                <a:solidFill>
                  <a:srgbClr val="E3DCCE"/>
                </a:solidFill>
                <a:latin typeface="Calibri"/>
              </a:rPr>
              <a:t>Dr. Ivis Renee King</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TODAY'S SESSION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We're Headed</a:t>
            </a:r>
          </a:p>
        </p:txBody>
      </p:sp>
      <p:sp>
        <p:nvSpPr>
          <p:cNvPr id="4" name="Oval 3"/>
          <p:cNvSpPr/>
          <p:nvPr/>
        </p:nvSpPr>
        <p:spPr>
          <a:xfrm>
            <a:off x="64008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64008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Synthesizing Your Case</a:t>
            </a:r>
          </a:p>
        </p:txBody>
      </p:sp>
      <p:sp>
        <p:nvSpPr>
          <p:cNvPr id="6" name="Oval 5"/>
          <p:cNvSpPr/>
          <p:nvPr/>
        </p:nvSpPr>
        <p:spPr>
          <a:xfrm>
            <a:off x="4251960" y="1874519"/>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2</a:t>
            </a:r>
          </a:p>
        </p:txBody>
      </p:sp>
      <p:sp>
        <p:nvSpPr>
          <p:cNvPr id="7" name="TextBox 6"/>
          <p:cNvSpPr txBox="1"/>
          <p:nvPr/>
        </p:nvSpPr>
        <p:spPr>
          <a:xfrm>
            <a:off x="425196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What Field Readiness Means</a:t>
            </a:r>
          </a:p>
        </p:txBody>
      </p:sp>
      <p:sp>
        <p:nvSpPr>
          <p:cNvPr id="8" name="Oval 7"/>
          <p:cNvSpPr/>
          <p:nvPr/>
        </p:nvSpPr>
        <p:spPr>
          <a:xfrm>
            <a:off x="786384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9" name="TextBox 8"/>
          <p:cNvSpPr txBox="1"/>
          <p:nvPr/>
        </p:nvSpPr>
        <p:spPr>
          <a:xfrm>
            <a:off x="786384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The Benchmark Checkpoint</a:t>
            </a:r>
          </a:p>
        </p:txBody>
      </p:sp>
      <p:sp>
        <p:nvSpPr>
          <p:cNvPr id="10" name="Oval 9"/>
          <p:cNvSpPr/>
          <p:nvPr/>
        </p:nvSpPr>
        <p:spPr>
          <a:xfrm>
            <a:off x="64008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4</a:t>
            </a:r>
          </a:p>
        </p:txBody>
      </p:sp>
      <p:sp>
        <p:nvSpPr>
          <p:cNvPr id="11" name="TextBox 10"/>
          <p:cNvSpPr txBox="1"/>
          <p:nvPr/>
        </p:nvSpPr>
        <p:spPr>
          <a:xfrm>
            <a:off x="64008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Scoring, Explained</a:t>
            </a:r>
          </a:p>
        </p:txBody>
      </p:sp>
      <p:sp>
        <p:nvSpPr>
          <p:cNvPr id="12" name="Oval 11"/>
          <p:cNvSpPr/>
          <p:nvPr/>
        </p:nvSpPr>
        <p:spPr>
          <a:xfrm>
            <a:off x="4251960" y="34290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5</a:t>
            </a:r>
          </a:p>
        </p:txBody>
      </p:sp>
      <p:sp>
        <p:nvSpPr>
          <p:cNvPr id="13" name="TextBox 12"/>
          <p:cNvSpPr txBox="1"/>
          <p:nvPr/>
        </p:nvSpPr>
        <p:spPr>
          <a:xfrm>
            <a:off x="425196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If You Don't Clear It</a:t>
            </a:r>
          </a:p>
        </p:txBody>
      </p:sp>
      <p:sp>
        <p:nvSpPr>
          <p:cNvPr id="14" name="Oval 13"/>
          <p:cNvSpPr/>
          <p:nvPr/>
        </p:nvSpPr>
        <p:spPr>
          <a:xfrm>
            <a:off x="786384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6</a:t>
            </a:r>
          </a:p>
        </p:txBody>
      </p:sp>
      <p:sp>
        <p:nvSpPr>
          <p:cNvPr id="15" name="TextBox 14"/>
          <p:cNvSpPr txBox="1"/>
          <p:nvPr/>
        </p:nvSpPr>
        <p:spPr>
          <a:xfrm>
            <a:off x="786384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Looking to Phase 2</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SEVEN WEEKS IN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FFFFFF"/>
                </a:solidFill>
                <a:latin typeface="Cambria"/>
              </a:rPr>
              <a:t>Phase 1, By the Numbers</a:t>
            </a:r>
          </a:p>
        </p:txBody>
      </p:sp>
      <p:sp>
        <p:nvSpPr>
          <p:cNvPr id="4" name="TextBox 3"/>
          <p:cNvSpPr txBox="1"/>
          <p:nvPr/>
        </p:nvSpPr>
        <p:spPr>
          <a:xfrm>
            <a:off x="640080" y="2377440"/>
            <a:ext cx="3383280" cy="1554480"/>
          </a:xfrm>
          <a:prstGeom prst="rect">
            <a:avLst/>
          </a:prstGeom>
          <a:noFill/>
        </p:spPr>
        <p:txBody>
          <a:bodyPr wrap="square" anchor="t" lIns="0" rIns="0" tIns="0" bIns="0">
            <a:spAutoFit/>
          </a:bodyPr>
          <a:lstStyle/>
          <a:p>
            <a:pPr algn="ctr">
              <a:lnSpc>
                <a:spcPct val="115000"/>
              </a:lnSpc>
            </a:pPr>
            <a:r>
              <a:rPr sz="8000" b="1" i="0">
                <a:solidFill>
                  <a:srgbClr val="EAAA00"/>
                </a:solidFill>
                <a:latin typeface="Cambria"/>
              </a:rPr>
              <a:t>3</a:t>
            </a:r>
          </a:p>
        </p:txBody>
      </p:sp>
      <p:sp>
        <p:nvSpPr>
          <p:cNvPr id="5" name="TextBox 4"/>
          <p:cNvSpPr txBox="1"/>
          <p:nvPr/>
        </p:nvSpPr>
        <p:spPr>
          <a:xfrm>
            <a:off x="640080" y="3886200"/>
            <a:ext cx="3383280" cy="548640"/>
          </a:xfrm>
          <a:prstGeom prst="rect">
            <a:avLst/>
          </a:prstGeom>
          <a:noFill/>
        </p:spPr>
        <p:txBody>
          <a:bodyPr wrap="square" anchor="t" lIns="0" rIns="0" tIns="0" bIns="0">
            <a:spAutoFit/>
          </a:bodyPr>
          <a:lstStyle/>
          <a:p>
            <a:pPr algn="ctr">
              <a:lnSpc>
                <a:spcPct val="115000"/>
              </a:lnSpc>
            </a:pPr>
            <a:r>
              <a:rPr sz="1500" b="1" i="0">
                <a:solidFill>
                  <a:srgbClr val="FFFFFF"/>
                </a:solidFill>
                <a:latin typeface="Calibri"/>
              </a:rPr>
              <a:t>WEEKS ON ONE CASE</a:t>
            </a:r>
          </a:p>
        </p:txBody>
      </p:sp>
      <p:sp>
        <p:nvSpPr>
          <p:cNvPr id="6" name="TextBox 5"/>
          <p:cNvSpPr txBox="1"/>
          <p:nvPr/>
        </p:nvSpPr>
        <p:spPr>
          <a:xfrm>
            <a:off x="4297680" y="2377440"/>
            <a:ext cx="3383280" cy="1554480"/>
          </a:xfrm>
          <a:prstGeom prst="rect">
            <a:avLst/>
          </a:prstGeom>
          <a:noFill/>
        </p:spPr>
        <p:txBody>
          <a:bodyPr wrap="square" anchor="t" lIns="0" rIns="0" tIns="0" bIns="0">
            <a:spAutoFit/>
          </a:bodyPr>
          <a:lstStyle/>
          <a:p>
            <a:pPr algn="ctr">
              <a:lnSpc>
                <a:spcPct val="115000"/>
              </a:lnSpc>
            </a:pPr>
            <a:r>
              <a:rPr sz="8000" b="1" i="0">
                <a:solidFill>
                  <a:srgbClr val="EAAA00"/>
                </a:solidFill>
                <a:latin typeface="Cambria"/>
              </a:rPr>
              <a:t>6</a:t>
            </a:r>
          </a:p>
        </p:txBody>
      </p:sp>
      <p:sp>
        <p:nvSpPr>
          <p:cNvPr id="7" name="TextBox 6"/>
          <p:cNvSpPr txBox="1"/>
          <p:nvPr/>
        </p:nvSpPr>
        <p:spPr>
          <a:xfrm>
            <a:off x="4297680" y="3886200"/>
            <a:ext cx="3383280" cy="548640"/>
          </a:xfrm>
          <a:prstGeom prst="rect">
            <a:avLst/>
          </a:prstGeom>
          <a:noFill/>
        </p:spPr>
        <p:txBody>
          <a:bodyPr wrap="square" anchor="t" lIns="0" rIns="0" tIns="0" bIns="0">
            <a:spAutoFit/>
          </a:bodyPr>
          <a:lstStyle/>
          <a:p>
            <a:pPr algn="ctr">
              <a:lnSpc>
                <a:spcPct val="115000"/>
              </a:lnSpc>
            </a:pPr>
            <a:r>
              <a:rPr sz="1500" b="1" i="0">
                <a:solidFill>
                  <a:srgbClr val="FFFFFF"/>
                </a:solidFill>
                <a:latin typeface="Calibri"/>
              </a:rPr>
              <a:t>CASE VIGNETTES</a:t>
            </a:r>
          </a:p>
        </p:txBody>
      </p:sp>
      <p:sp>
        <p:nvSpPr>
          <p:cNvPr id="8" name="TextBox 7"/>
          <p:cNvSpPr txBox="1"/>
          <p:nvPr/>
        </p:nvSpPr>
        <p:spPr>
          <a:xfrm>
            <a:off x="7955280" y="2377440"/>
            <a:ext cx="3383280" cy="1554480"/>
          </a:xfrm>
          <a:prstGeom prst="rect">
            <a:avLst/>
          </a:prstGeom>
          <a:noFill/>
        </p:spPr>
        <p:txBody>
          <a:bodyPr wrap="square" anchor="t" lIns="0" rIns="0" tIns="0" bIns="0">
            <a:spAutoFit/>
          </a:bodyPr>
          <a:lstStyle/>
          <a:p>
            <a:pPr algn="ctr">
              <a:lnSpc>
                <a:spcPct val="115000"/>
              </a:lnSpc>
            </a:pPr>
            <a:r>
              <a:rPr sz="8000" b="1" i="0">
                <a:solidFill>
                  <a:srgbClr val="EAAA00"/>
                </a:solidFill>
                <a:latin typeface="Cambria"/>
              </a:rPr>
              <a:t>80%</a:t>
            </a:r>
          </a:p>
        </p:txBody>
      </p:sp>
      <p:sp>
        <p:nvSpPr>
          <p:cNvPr id="9" name="TextBox 8"/>
          <p:cNvSpPr txBox="1"/>
          <p:nvPr/>
        </p:nvSpPr>
        <p:spPr>
          <a:xfrm>
            <a:off x="7955280" y="3886200"/>
            <a:ext cx="3383280" cy="548640"/>
          </a:xfrm>
          <a:prstGeom prst="rect">
            <a:avLst/>
          </a:prstGeom>
          <a:noFill/>
        </p:spPr>
        <p:txBody>
          <a:bodyPr wrap="square" anchor="t" lIns="0" rIns="0" tIns="0" bIns="0">
            <a:spAutoFit/>
          </a:bodyPr>
          <a:lstStyle/>
          <a:p>
            <a:pPr algn="ctr">
              <a:lnSpc>
                <a:spcPct val="115000"/>
              </a:lnSpc>
            </a:pPr>
            <a:r>
              <a:rPr sz="1500" b="1" i="0">
                <a:solidFill>
                  <a:srgbClr val="FFFFFF"/>
                </a:solidFill>
                <a:latin typeface="Calibri"/>
              </a:rPr>
              <a:t>MINIMUM TO ADVANCE</a:t>
            </a:r>
          </a:p>
        </p:txBody>
      </p:sp>
      <p:sp>
        <p:nvSpPr>
          <p:cNvPr id="10" name="TextBox 9"/>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11" name="TextBox 10"/>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BRINGING IT TOGETHER</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Your Case, as an Integrated Whole</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Genogram, ecomap, and treatment plan were built across three separate weeks — today, your group looks at all three together as one coherent picture of your case family, not three disconnected assignments. Does the treatment plan actually trace back to what the genogram and ecomap showed?</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PHASE 1, REVISITED</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The Full Arc</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Engagement (Mod. 3)</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Relationship-building skills, tested in the Engagement Simulation.</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Assessment (Mod. 4, Wks 5–6)</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Genogram and ecomap — biopsychosocial-spiritual and environmental.</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Planning (Mod. 4, Wk 6–7)</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Treatment plan — goals negotiated collaboratively, not imposed.</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THE GATE</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What “Ready for Phase 2” Means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NOT JUST A GRADE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Why This Checkpoint Exists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Phase 2 places you in real agency rotations working alongside real practitioners and, indirectly, real clients. The Benchmark Checkpoint exists to confirm — concretely, not just by your course average — that you're ready for that shift before it happens.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WHAT'S SCORED</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Two Sources of Evidence</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Group case materials</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Your genogram, ecomap, and treatment plan, evaluated together.</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Individual reflections</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All three of your own weekly reflections — your own professional voice.</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Minimum 80%</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Required across the combined score to advance into Phase 2.</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MYTH VS. REALITY</a:t>
            </a:r>
          </a:p>
        </p:txBody>
      </p:sp>
      <p:sp>
        <p:nvSpPr>
          <p:cNvPr id="3" name="TextBox 2"/>
          <p:cNvSpPr txBox="1"/>
          <p:nvPr/>
        </p:nvSpPr>
        <p:spPr>
          <a:xfrm>
            <a:off x="822960" y="1737360"/>
            <a:ext cx="10515600" cy="1188720"/>
          </a:xfrm>
          <a:prstGeom prst="rect">
            <a:avLst/>
          </a:prstGeom>
          <a:noFill/>
        </p:spPr>
        <p:txBody>
          <a:bodyPr wrap="square" anchor="t" lIns="0" rIns="0" tIns="0" bIns="0">
            <a:spAutoFit/>
          </a:bodyPr>
          <a:lstStyle/>
          <a:p>
            <a:pPr algn="l">
              <a:lnSpc>
                <a:spcPct val="115000"/>
              </a:lnSpc>
            </a:pPr>
            <a:r>
              <a:rPr sz="3000" b="1" i="1">
                <a:solidFill>
                  <a:srgbClr val="FFFFFF"/>
                </a:solidFill>
                <a:latin typeface="Cambria"/>
              </a:rPr>
              <a:t>"The Benchmark Checkpoint is just another quiz grade."</a:t>
            </a:r>
          </a:p>
        </p:txBody>
      </p:sp>
      <p:sp>
        <p:nvSpPr>
          <p:cNvPr id="4" name="Rounded Rectangle 3"/>
          <p:cNvSpPr/>
          <p:nvPr/>
        </p:nvSpPr>
        <p:spPr>
          <a:xfrm>
            <a:off x="822960" y="3063240"/>
            <a:ext cx="10515600" cy="2834640"/>
          </a:xfrm>
          <a:prstGeom prst="roundRect">
            <a:avLst>
              <a:gd name="adj" fmla="val 6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383280"/>
            <a:ext cx="2743200" cy="457200"/>
          </a:xfrm>
          <a:prstGeom prst="rect">
            <a:avLst/>
          </a:prstGeom>
          <a:noFill/>
        </p:spPr>
        <p:txBody>
          <a:bodyPr wrap="square" anchor="t" lIns="0" rIns="0" tIns="0" bIns="0">
            <a:spAutoFit/>
          </a:bodyPr>
          <a:lstStyle/>
          <a:p>
            <a:pPr algn="l">
              <a:lnSpc>
                <a:spcPct val="115000"/>
              </a:lnSpc>
            </a:pPr>
            <a:r>
              <a:rPr sz="1800" b="1" i="0">
                <a:solidFill>
                  <a:srgbClr val="EAAA00"/>
                </a:solidFill>
                <a:latin typeface="Cambria"/>
              </a:rPr>
              <a:t>Reality:</a:t>
            </a:r>
          </a:p>
        </p:txBody>
      </p:sp>
      <p:sp>
        <p:nvSpPr>
          <p:cNvPr id="6" name="TextBox 5"/>
          <p:cNvSpPr txBox="1"/>
          <p:nvPr/>
        </p:nvSpPr>
        <p:spPr>
          <a:xfrm>
            <a:off x="1188720" y="3840480"/>
            <a:ext cx="9784080" cy="192024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It's a readiness gate layered on top of your course average, not folded invisibly into it — you can be doing fine numerically overall and still need to clear this specific bar before Phase 2 begins.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IF YOU DON'T CLEAR IT</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A Path Forward, Not a Dead End</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THE POLICY</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FFFFFF"/>
                </a:solidFill>
                <a:latin typeface="Cambria"/>
              </a:rPr>
              <a:t>What Happens If You Don't Clear 80%</a:t>
            </a:r>
          </a:p>
        </p:txBody>
      </p:sp>
      <p:sp>
        <p:nvSpPr>
          <p:cNvPr id="4" name="Rounded Rectangle 3"/>
          <p:cNvSpPr/>
          <p:nvPr/>
        </p:nvSpPr>
        <p:spPr>
          <a:xfrm>
            <a:off x="640080" y="2377440"/>
            <a:ext cx="10698480" cy="3291840"/>
          </a:xfrm>
          <a:prstGeom prst="roundRect">
            <a:avLst>
              <a:gd name="adj" fmla="val 4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697480"/>
            <a:ext cx="10058400" cy="548640"/>
          </a:xfrm>
          <a:prstGeom prst="rect">
            <a:avLst/>
          </a:prstGeom>
          <a:noFill/>
        </p:spPr>
        <p:txBody>
          <a:bodyPr wrap="square" anchor="t" lIns="0" rIns="0" tIns="0" bIns="0">
            <a:spAutoFit/>
          </a:bodyPr>
          <a:lstStyle/>
          <a:p>
            <a:pPr algn="l">
              <a:lnSpc>
                <a:spcPct val="115000"/>
              </a:lnSpc>
            </a:pPr>
            <a:r>
              <a:rPr sz="2200" b="1" i="0">
                <a:solidFill>
                  <a:srgbClr val="EAAA00"/>
                </a:solidFill>
                <a:latin typeface="Cambria"/>
              </a:rPr>
              <a:t>A one-week delay, with remediation — not a dead end.</a:t>
            </a:r>
          </a:p>
        </p:txBody>
      </p:sp>
      <p:sp>
        <p:nvSpPr>
          <p:cNvPr id="6" name="TextBox 5"/>
          <p:cNvSpPr txBox="1"/>
          <p:nvPr/>
        </p:nvSpPr>
        <p:spPr>
          <a:xfrm>
            <a:off x="1051560" y="3337560"/>
            <a:ext cx="9875520" cy="210312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Because real semester time remains at Week 7, students who don't clear the Benchmark Checkpoint get a defined one-week remediation window: targeted feedback on the specific gap, a chance to revise, and a second attempt before Phase 2 rotations begin for the rest of the class.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A CONTRAST, ON PURPOSE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Different from the Week 15 Policy</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This is not the same mechanism as the Field Readiness Evaluation in Module 8. There, with no more semester time left, a “Not Ready” outcome triggers a formal PPE Development and Improvement Plan instead. Here, at Week 7, there's still time — so the response is lighter-weight and faster.</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WHAT EVIDENCE LOOKS LIKE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Grounding the Checkpoint in What You Actually Wrote</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Reviewers aren't looking for perfect prose — they're looking for evidence that your group actually engaged the biopsychosocial-spiritual and environmental picture of your case, and that your individual reflections show your own developing professional reasoning, not just a paraphrase of the group's documents.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ONE MORE THING</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The Module 4 Quiz</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A short content quiz on multidimensional assessment, ecomaps, and goal contracting accompanies this module — see the course quiz schedule for timing. It checks concept recall; the Benchmark Checkpoint is where you show applied skill.</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AHEAD</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Phase 2 — Implementation Begins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THREE ROTATIONS AWAIT</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Phase 2 Looks Like</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Child welfare &amp; family (Mod. 5)</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4 hrs/week, Weeks 8–9.</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Mental health (Mod. 6)</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4 hrs/week, Weeks 10–11 — paired with the Afrocentric Perspective.</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Community organization (Mod. 7)</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4 hrs/week, Weeks 12–13.</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DUE THIS WEEK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Due This Week</a:t>
            </a:r>
          </a:p>
        </p:txBody>
      </p:sp>
      <p:sp>
        <p:nvSpPr>
          <p:cNvPr id="4" name="Rounded Rectangle 3"/>
          <p:cNvSpPr/>
          <p:nvPr/>
        </p:nvSpPr>
        <p:spPr>
          <a:xfrm>
            <a:off x="640080" y="1920240"/>
            <a:ext cx="10698480" cy="3840480"/>
          </a:xfrm>
          <a:prstGeom prst="roundRect">
            <a:avLst>
              <a:gd name="adj" fmla="val 4000"/>
            </a:avLst>
          </a:prstGeom>
          <a:solidFill>
            <a:srgbClr val="E3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86000"/>
            <a:ext cx="9601200" cy="54864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Phase 1 Benchmark Checkpoint.</a:t>
            </a:r>
          </a:p>
        </p:txBody>
      </p:sp>
      <p:sp>
        <p:nvSpPr>
          <p:cNvPr id="6" name="TextBox 5"/>
          <p:cNvSpPr txBox="1"/>
          <p:nvPr/>
        </p:nvSpPr>
        <p:spPr>
          <a:xfrm>
            <a:off x="1051560" y="2971800"/>
            <a:ext cx="9601200" cy="1371600"/>
          </a:xfrm>
          <a:prstGeom prst="rect">
            <a:avLst/>
          </a:prstGeom>
          <a:noFill/>
        </p:spPr>
        <p:txBody>
          <a:bodyPr wrap="square" anchor="t" lIns="0" rIns="0" tIns="0" bIns="0">
            <a:spAutoFit/>
          </a:bodyPr>
          <a:lstStyle/>
          <a:p>
            <a:pPr algn="l">
              <a:lnSpc>
                <a:spcPct val="130000"/>
              </a:lnSpc>
            </a:pPr>
            <a:r>
              <a:rPr sz="1700" b="0" i="0">
                <a:solidFill>
                  <a:srgbClr val="1B1512"/>
                </a:solidFill>
                <a:latin typeface="Calibri"/>
              </a:rPr>
              <a:t>Administered in class. Scored on your group's combined case materials (genogram, ecomap, treatment plan) and each student's three individual weekly reflections. Minimum 80% required to advance to Phase 2.</a:t>
            </a:r>
          </a:p>
        </p:txBody>
      </p:sp>
      <p:sp>
        <p:nvSpPr>
          <p:cNvPr id="7" name="TextBox 6"/>
          <p:cNvSpPr txBox="1"/>
          <p:nvPr/>
        </p:nvSpPr>
        <p:spPr>
          <a:xfrm>
            <a:off x="1051560" y="4434840"/>
            <a:ext cx="9601200" cy="548640"/>
          </a:xfrm>
          <a:prstGeom prst="rect">
            <a:avLst/>
          </a:prstGeom>
          <a:noFill/>
        </p:spPr>
        <p:txBody>
          <a:bodyPr wrap="square" anchor="t" lIns="0" rIns="0" tIns="0" bIns="0">
            <a:spAutoFit/>
          </a:bodyPr>
          <a:lstStyle/>
          <a:p>
            <a:pPr algn="l">
              <a:lnSpc>
                <a:spcPct val="115000"/>
              </a:lnSpc>
            </a:pPr>
            <a:r>
              <a:rPr sz="1500" b="1" i="0">
                <a:solidFill>
                  <a:srgbClr val="C8102E"/>
                </a:solidFill>
                <a:latin typeface="Calibri"/>
              </a:rPr>
              <a:t>Full scoring rubric: course-toolkit/rubrics/ · This is a readiness gate, separate from your numeric course grade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7</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28600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PHASE 2 BEGINS</a:t>
            </a:r>
          </a:p>
        </p:txBody>
      </p:sp>
      <p:sp>
        <p:nvSpPr>
          <p:cNvPr id="3" name="TextBox 2"/>
          <p:cNvSpPr txBox="1"/>
          <p:nvPr/>
        </p:nvSpPr>
        <p:spPr>
          <a:xfrm>
            <a:off x="914400" y="2743200"/>
            <a:ext cx="10332720" cy="1005840"/>
          </a:xfrm>
          <a:prstGeom prst="rect">
            <a:avLst/>
          </a:prstGeom>
          <a:noFill/>
        </p:spPr>
        <p:txBody>
          <a:bodyPr wrap="square" anchor="t" lIns="0" rIns="0" tIns="0" bIns="0">
            <a:spAutoFit/>
          </a:bodyPr>
          <a:lstStyle/>
          <a:p>
            <a:pPr algn="l">
              <a:lnSpc>
                <a:spcPct val="115000"/>
              </a:lnSpc>
            </a:pPr>
            <a:r>
              <a:rPr sz="3200" b="1" i="0">
                <a:solidFill>
                  <a:srgbClr val="FFFFFF"/>
                </a:solidFill>
                <a:latin typeface="Cambria"/>
              </a:rPr>
              <a:t>Module 5 — Child Welfare &amp; Family Systems</a:t>
            </a:r>
          </a:p>
        </p:txBody>
      </p:sp>
      <p:sp>
        <p:nvSpPr>
          <p:cNvPr id="4" name="TextBox 3"/>
          <p:cNvSpPr txBox="1"/>
          <p:nvPr/>
        </p:nvSpPr>
        <p:spPr>
          <a:xfrm>
            <a:off x="914400" y="4023360"/>
            <a:ext cx="10332720" cy="731520"/>
          </a:xfrm>
          <a:prstGeom prst="rect">
            <a:avLst/>
          </a:prstGeom>
          <a:noFill/>
        </p:spPr>
        <p:txBody>
          <a:bodyPr wrap="square" anchor="t" lIns="0" rIns="0" tIns="0" bIns="0">
            <a:spAutoFit/>
          </a:bodyPr>
          <a:lstStyle/>
          <a:p>
            <a:pPr algn="l">
              <a:lnSpc>
                <a:spcPct val="115000"/>
              </a:lnSpc>
            </a:pPr>
            <a:r>
              <a:rPr sz="2400" b="0" i="1">
                <a:solidFill>
                  <a:srgbClr val="E3DCCE"/>
                </a:solidFill>
                <a:latin typeface="Cambria"/>
              </a:rPr>
              <a:t>Questions?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7</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