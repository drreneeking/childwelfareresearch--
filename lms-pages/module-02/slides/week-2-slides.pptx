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512"/>
        </a:solidFill>
        <a:effectLst/>
      </p:bgPr>
    </p:bg>
    <p:spTree>
      <p:nvGrpSpPr>
        <p:cNvPr id="1" name=""/>
        <p:cNvGrpSpPr/>
        <p:nvPr/>
      </p:nvGrpSpPr>
      <p:grpSpPr/>
      <p:sp>
        <p:nvSpPr>
          <p:cNvPr id="2" name="TextBox 1"/>
          <p:cNvSpPr txBox="1"/>
          <p:nvPr/>
        </p:nvSpPr>
        <p:spPr>
          <a:xfrm>
            <a:off x="914400" y="1371600"/>
            <a:ext cx="10332720" cy="365760"/>
          </a:xfrm>
          <a:prstGeom prst="rect">
            <a:avLst/>
          </a:prstGeom>
          <a:noFill/>
        </p:spPr>
        <p:txBody>
          <a:bodyPr wrap="square" anchor="t" lIns="0" rIns="0" tIns="0" bIns="0">
            <a:spAutoFit/>
          </a:bodyPr>
          <a:lstStyle/>
          <a:p>
            <a:pPr algn="l">
              <a:lnSpc>
                <a:spcPct val="115000"/>
              </a:lnSpc>
            </a:pPr>
            <a:r>
              <a:rPr sz="1300" b="1" i="0">
                <a:solidFill>
                  <a:srgbClr val="EAAA00"/>
                </a:solidFill>
                <a:latin typeface="Calibri"/>
              </a:rPr>
              <a:t>WHITNEY M. YOUNG, JR. SCHOOL OF SOCIAL WORK · CLARK ATLANTA UNIVERSITY</a:t>
            </a:r>
          </a:p>
        </p:txBody>
      </p:sp>
      <p:sp>
        <p:nvSpPr>
          <p:cNvPr id="3" name="TextBox 2"/>
          <p:cNvSpPr txBox="1"/>
          <p:nvPr/>
        </p:nvSpPr>
        <p:spPr>
          <a:xfrm>
            <a:off x="914400" y="1965960"/>
            <a:ext cx="10332720" cy="1005840"/>
          </a:xfrm>
          <a:prstGeom prst="rect">
            <a:avLst/>
          </a:prstGeom>
          <a:noFill/>
        </p:spPr>
        <p:txBody>
          <a:bodyPr wrap="square" anchor="t" lIns="0" rIns="0" tIns="0" bIns="0">
            <a:spAutoFit/>
          </a:bodyPr>
          <a:lstStyle/>
          <a:p>
            <a:pPr algn="l">
              <a:lnSpc>
                <a:spcPct val="115000"/>
              </a:lnSpc>
            </a:pPr>
            <a:r>
              <a:rPr sz="4000" b="1" i="0">
                <a:solidFill>
                  <a:srgbClr val="FFFFFF"/>
                </a:solidFill>
                <a:latin typeface="Cambria"/>
              </a:rPr>
              <a:t>CUSW 403 — Practice Competency I</a:t>
            </a:r>
          </a:p>
        </p:txBody>
      </p:sp>
      <p:sp>
        <p:nvSpPr>
          <p:cNvPr id="4" name="TextBox 3"/>
          <p:cNvSpPr txBox="1"/>
          <p:nvPr/>
        </p:nvSpPr>
        <p:spPr>
          <a:xfrm>
            <a:off x="914400" y="2926080"/>
            <a:ext cx="10332720" cy="457200"/>
          </a:xfrm>
          <a:prstGeom prst="rect">
            <a:avLst/>
          </a:prstGeom>
          <a:noFill/>
        </p:spPr>
        <p:txBody>
          <a:bodyPr wrap="square" anchor="t" lIns="0" rIns="0" tIns="0" bIns="0">
            <a:spAutoFit/>
          </a:bodyPr>
          <a:lstStyle/>
          <a:p>
            <a:pPr algn="l">
              <a:lnSpc>
                <a:spcPct val="115000"/>
              </a:lnSpc>
            </a:pPr>
            <a:r>
              <a:rPr sz="2000" b="1" i="0">
                <a:solidFill>
                  <a:srgbClr val="FF8A96"/>
                </a:solidFill>
                <a:latin typeface="Calibri"/>
              </a:rPr>
              <a:t>Module 2 · Week 2</a:t>
            </a:r>
          </a:p>
        </p:txBody>
      </p:sp>
      <p:sp>
        <p:nvSpPr>
          <p:cNvPr id="5" name="TextBox 4"/>
          <p:cNvSpPr txBox="1"/>
          <p:nvPr/>
        </p:nvSpPr>
        <p:spPr>
          <a:xfrm>
            <a:off x="914400" y="3429000"/>
            <a:ext cx="10332720" cy="822960"/>
          </a:xfrm>
          <a:prstGeom prst="rect">
            <a:avLst/>
          </a:prstGeom>
          <a:noFill/>
        </p:spPr>
        <p:txBody>
          <a:bodyPr wrap="square" anchor="t" lIns="0" rIns="0" tIns="0" bIns="0">
            <a:spAutoFit/>
          </a:bodyPr>
          <a:lstStyle/>
          <a:p>
            <a:pPr algn="l">
              <a:lnSpc>
                <a:spcPct val="115000"/>
              </a:lnSpc>
            </a:pPr>
            <a:r>
              <a:rPr sz="2600" b="0" i="1">
                <a:solidFill>
                  <a:srgbClr val="FFFFFF"/>
                </a:solidFill>
                <a:latin typeface="Cambria"/>
              </a:rPr>
              <a:t>Introduction to AI in Social Work Practice</a:t>
            </a:r>
          </a:p>
        </p:txBody>
      </p:sp>
      <p:sp>
        <p:nvSpPr>
          <p:cNvPr id="6" name="Rectangle 5"/>
          <p:cNvSpPr/>
          <p:nvPr/>
        </p:nvSpPr>
        <p:spPr>
          <a:xfrm>
            <a:off x="914400" y="4343400"/>
            <a:ext cx="2011680" cy="38100"/>
          </a:xfrm>
          <a:prstGeom prst="rect">
            <a:avLst/>
          </a:prstGeom>
          <a:solidFill>
            <a:srgbClr val="EAA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617720"/>
            <a:ext cx="5486400" cy="365760"/>
          </a:xfrm>
          <a:prstGeom prst="rect">
            <a:avLst/>
          </a:prstGeom>
          <a:noFill/>
        </p:spPr>
        <p:txBody>
          <a:bodyPr wrap="square" anchor="t" lIns="0" rIns="0" tIns="0" bIns="0">
            <a:spAutoFit/>
          </a:bodyPr>
          <a:lstStyle/>
          <a:p>
            <a:pPr algn="l">
              <a:lnSpc>
                <a:spcPct val="115000"/>
              </a:lnSpc>
            </a:pPr>
            <a:r>
              <a:rPr sz="1500" b="0" i="0">
                <a:solidFill>
                  <a:srgbClr val="E3DCCE"/>
                </a:solidFill>
                <a:latin typeface="Calibri"/>
              </a:rPr>
              <a:t>Dr. Ivis Renee King</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E3DCCE"/>
                </a:solidFill>
                <a:latin typeface="Calibri"/>
              </a:rPr>
              <a:t>CUSW 403 · Module 2 · Week 2</a:t>
            </a:r>
          </a:p>
        </p:txBody>
      </p:sp>
      <p:sp>
        <p:nvSpPr>
          <p:cNvPr id="9" name="TextBox 8"/>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E3DCCE"/>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C8102E"/>
                </a:solidFill>
                <a:latin typeface="Calibri"/>
              </a:rPr>
              <a:t>TODAY'S SESSION</a:t>
            </a:r>
          </a:p>
        </p:txBody>
      </p:sp>
      <p:sp>
        <p:nvSpPr>
          <p:cNvPr id="3" name="TextBox 2"/>
          <p:cNvSpPr txBox="1"/>
          <p:nvPr/>
        </p:nvSpPr>
        <p:spPr>
          <a:xfrm>
            <a:off x="640080" y="685800"/>
            <a:ext cx="10058400" cy="822960"/>
          </a:xfrm>
          <a:prstGeom prst="rect">
            <a:avLst/>
          </a:prstGeom>
          <a:noFill/>
        </p:spPr>
        <p:txBody>
          <a:bodyPr wrap="square" anchor="t" lIns="0" rIns="0" tIns="0" bIns="0">
            <a:spAutoFit/>
          </a:bodyPr>
          <a:lstStyle/>
          <a:p>
            <a:pPr algn="l">
              <a:lnSpc>
                <a:spcPct val="115000"/>
              </a:lnSpc>
            </a:pPr>
            <a:r>
              <a:rPr sz="3400" b="1" i="0">
                <a:solidFill>
                  <a:srgbClr val="1B1512"/>
                </a:solidFill>
                <a:latin typeface="Cambria"/>
              </a:rPr>
              <a:t>Where We're Headed</a:t>
            </a:r>
          </a:p>
        </p:txBody>
      </p:sp>
      <p:sp>
        <p:nvSpPr>
          <p:cNvPr id="4" name="Oval 3"/>
          <p:cNvSpPr/>
          <p:nvPr/>
        </p:nvSpPr>
        <p:spPr>
          <a:xfrm>
            <a:off x="640080" y="1874519"/>
            <a:ext cx="640080" cy="64008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a:solidFill>
                  <a:srgbClr val="FFFFFF"/>
                </a:solidFill>
                <a:latin typeface="Cambria"/>
              </a:rPr>
              <a:t>1</a:t>
            </a:r>
          </a:p>
        </p:txBody>
      </p:sp>
      <p:sp>
        <p:nvSpPr>
          <p:cNvPr id="5" name="TextBox 4"/>
          <p:cNvSpPr txBox="1"/>
          <p:nvPr/>
        </p:nvSpPr>
        <p:spPr>
          <a:xfrm>
            <a:off x="640080" y="2651759"/>
            <a:ext cx="3291840" cy="777240"/>
          </a:xfrm>
          <a:prstGeom prst="rect">
            <a:avLst/>
          </a:prstGeom>
          <a:noFill/>
        </p:spPr>
        <p:txBody>
          <a:bodyPr wrap="square" anchor="t" lIns="0" rIns="0" tIns="0" bIns="0">
            <a:spAutoFit/>
          </a:bodyPr>
          <a:lstStyle/>
          <a:p>
            <a:pPr algn="l">
              <a:lnSpc>
                <a:spcPct val="115000"/>
              </a:lnSpc>
            </a:pPr>
            <a:r>
              <a:rPr sz="1700" b="1" i="0">
                <a:solidFill>
                  <a:srgbClr val="1B1512"/>
                </a:solidFill>
                <a:latin typeface="Cambria"/>
              </a:rPr>
              <a:t>Bridging Hepworth to GIM</a:t>
            </a:r>
          </a:p>
        </p:txBody>
      </p:sp>
      <p:sp>
        <p:nvSpPr>
          <p:cNvPr id="6" name="Oval 5"/>
          <p:cNvSpPr/>
          <p:nvPr/>
        </p:nvSpPr>
        <p:spPr>
          <a:xfrm>
            <a:off x="4251960" y="1874519"/>
            <a:ext cx="640080" cy="640080"/>
          </a:xfrm>
          <a:prstGeom prst="ellipse">
            <a:avLst/>
          </a:prstGeom>
          <a:solidFill>
            <a:srgbClr val="EAA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a:solidFill>
                  <a:srgbClr val="1B1512"/>
                </a:solidFill>
                <a:latin typeface="Cambria"/>
              </a:rPr>
              <a:t>2</a:t>
            </a:r>
          </a:p>
        </p:txBody>
      </p:sp>
      <p:sp>
        <p:nvSpPr>
          <p:cNvPr id="7" name="TextBox 6"/>
          <p:cNvSpPr txBox="1"/>
          <p:nvPr/>
        </p:nvSpPr>
        <p:spPr>
          <a:xfrm>
            <a:off x="4251960" y="2651759"/>
            <a:ext cx="3291840" cy="777240"/>
          </a:xfrm>
          <a:prstGeom prst="rect">
            <a:avLst/>
          </a:prstGeom>
          <a:noFill/>
        </p:spPr>
        <p:txBody>
          <a:bodyPr wrap="square" anchor="t" lIns="0" rIns="0" tIns="0" bIns="0">
            <a:spAutoFit/>
          </a:bodyPr>
          <a:lstStyle/>
          <a:p>
            <a:pPr algn="l">
              <a:lnSpc>
                <a:spcPct val="115000"/>
              </a:lnSpc>
            </a:pPr>
            <a:r>
              <a:rPr sz="1700" b="1" i="0">
                <a:solidFill>
                  <a:srgbClr val="1B1512"/>
                </a:solidFill>
                <a:latin typeface="Cambria"/>
              </a:rPr>
              <a:t>Why AI Matters Now</a:t>
            </a:r>
          </a:p>
        </p:txBody>
      </p:sp>
      <p:sp>
        <p:nvSpPr>
          <p:cNvPr id="8" name="Oval 7"/>
          <p:cNvSpPr/>
          <p:nvPr/>
        </p:nvSpPr>
        <p:spPr>
          <a:xfrm>
            <a:off x="7863840" y="1874519"/>
            <a:ext cx="640080" cy="64008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a:solidFill>
                  <a:srgbClr val="FFFFFF"/>
                </a:solidFill>
                <a:latin typeface="Cambria"/>
              </a:rPr>
              <a:t>3</a:t>
            </a:r>
          </a:p>
        </p:txBody>
      </p:sp>
      <p:sp>
        <p:nvSpPr>
          <p:cNvPr id="9" name="TextBox 8"/>
          <p:cNvSpPr txBox="1"/>
          <p:nvPr/>
        </p:nvSpPr>
        <p:spPr>
          <a:xfrm>
            <a:off x="7863840" y="2651759"/>
            <a:ext cx="3291840" cy="777240"/>
          </a:xfrm>
          <a:prstGeom prst="rect">
            <a:avLst/>
          </a:prstGeom>
          <a:noFill/>
        </p:spPr>
        <p:txBody>
          <a:bodyPr wrap="square" anchor="t" lIns="0" rIns="0" tIns="0" bIns="0">
            <a:spAutoFit/>
          </a:bodyPr>
          <a:lstStyle/>
          <a:p>
            <a:pPr algn="l">
              <a:lnSpc>
                <a:spcPct val="115000"/>
              </a:lnSpc>
            </a:pPr>
            <a:r>
              <a:rPr sz="1700" b="1" i="0">
                <a:solidFill>
                  <a:srgbClr val="1B1512"/>
                </a:solidFill>
                <a:latin typeface="Cambria"/>
              </a:rPr>
              <a:t>Benefits &amp; Real Risks</a:t>
            </a:r>
          </a:p>
        </p:txBody>
      </p:sp>
      <p:sp>
        <p:nvSpPr>
          <p:cNvPr id="10" name="Oval 9"/>
          <p:cNvSpPr/>
          <p:nvPr/>
        </p:nvSpPr>
        <p:spPr>
          <a:xfrm>
            <a:off x="640080" y="3429000"/>
            <a:ext cx="640080" cy="640080"/>
          </a:xfrm>
          <a:prstGeom prst="ellipse">
            <a:avLst/>
          </a:prstGeom>
          <a:solidFill>
            <a:srgbClr val="EAA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a:solidFill>
                  <a:srgbClr val="1B1512"/>
                </a:solidFill>
                <a:latin typeface="Cambria"/>
              </a:rPr>
              <a:t>4</a:t>
            </a:r>
          </a:p>
        </p:txBody>
      </p:sp>
      <p:sp>
        <p:nvSpPr>
          <p:cNvPr id="11" name="TextBox 10"/>
          <p:cNvSpPr txBox="1"/>
          <p:nvPr/>
        </p:nvSpPr>
        <p:spPr>
          <a:xfrm>
            <a:off x="640080" y="4206240"/>
            <a:ext cx="3291840" cy="777240"/>
          </a:xfrm>
          <a:prstGeom prst="rect">
            <a:avLst/>
          </a:prstGeom>
          <a:noFill/>
        </p:spPr>
        <p:txBody>
          <a:bodyPr wrap="square" anchor="t" lIns="0" rIns="0" tIns="0" bIns="0">
            <a:spAutoFit/>
          </a:bodyPr>
          <a:lstStyle/>
          <a:p>
            <a:pPr algn="l">
              <a:lnSpc>
                <a:spcPct val="115000"/>
              </a:lnSpc>
            </a:pPr>
            <a:r>
              <a:rPr sz="1700" b="1" i="0">
                <a:solidFill>
                  <a:srgbClr val="1B1512"/>
                </a:solidFill>
                <a:latin typeface="Cambria"/>
              </a:rPr>
              <a:t>NASW Code of Ethics</a:t>
            </a:r>
          </a:p>
        </p:txBody>
      </p:sp>
      <p:sp>
        <p:nvSpPr>
          <p:cNvPr id="12" name="Oval 11"/>
          <p:cNvSpPr/>
          <p:nvPr/>
        </p:nvSpPr>
        <p:spPr>
          <a:xfrm>
            <a:off x="4251960" y="3429000"/>
            <a:ext cx="640080" cy="64008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a:solidFill>
                  <a:srgbClr val="FFFFFF"/>
                </a:solidFill>
                <a:latin typeface="Cambria"/>
              </a:rPr>
              <a:t>5</a:t>
            </a:r>
          </a:p>
        </p:txBody>
      </p:sp>
      <p:sp>
        <p:nvSpPr>
          <p:cNvPr id="13" name="TextBox 12"/>
          <p:cNvSpPr txBox="1"/>
          <p:nvPr/>
        </p:nvSpPr>
        <p:spPr>
          <a:xfrm>
            <a:off x="4251960" y="4206240"/>
            <a:ext cx="3291840" cy="777240"/>
          </a:xfrm>
          <a:prstGeom prst="rect">
            <a:avLst/>
          </a:prstGeom>
          <a:noFill/>
        </p:spPr>
        <p:txBody>
          <a:bodyPr wrap="square" anchor="t" lIns="0" rIns="0" tIns="0" bIns="0">
            <a:spAutoFit/>
          </a:bodyPr>
          <a:lstStyle/>
          <a:p>
            <a:pPr algn="l">
              <a:lnSpc>
                <a:spcPct val="115000"/>
              </a:lnSpc>
            </a:pPr>
            <a:r>
              <a:rPr sz="1700" b="1" i="0">
                <a:solidFill>
                  <a:srgbClr val="1B1512"/>
                </a:solidFill>
                <a:latin typeface="Cambria"/>
              </a:rPr>
              <a:t>Meet Your Practice Coach</a:t>
            </a:r>
          </a:p>
        </p:txBody>
      </p:sp>
      <p:sp>
        <p:nvSpPr>
          <p:cNvPr id="14" name="Oval 13"/>
          <p:cNvSpPr/>
          <p:nvPr/>
        </p:nvSpPr>
        <p:spPr>
          <a:xfrm>
            <a:off x="7863840" y="3429000"/>
            <a:ext cx="640080" cy="640080"/>
          </a:xfrm>
          <a:prstGeom prst="ellipse">
            <a:avLst/>
          </a:prstGeom>
          <a:solidFill>
            <a:srgbClr val="EAAA0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a:solidFill>
                  <a:srgbClr val="1B1512"/>
                </a:solidFill>
                <a:latin typeface="Cambria"/>
              </a:rPr>
              <a:t>6</a:t>
            </a:r>
          </a:p>
        </p:txBody>
      </p:sp>
      <p:sp>
        <p:nvSpPr>
          <p:cNvPr id="15" name="TextBox 14"/>
          <p:cNvSpPr txBox="1"/>
          <p:nvPr/>
        </p:nvSpPr>
        <p:spPr>
          <a:xfrm>
            <a:off x="7863840" y="4206240"/>
            <a:ext cx="3291840" cy="777240"/>
          </a:xfrm>
          <a:prstGeom prst="rect">
            <a:avLst/>
          </a:prstGeom>
          <a:noFill/>
        </p:spPr>
        <p:txBody>
          <a:bodyPr wrap="square" anchor="t" lIns="0" rIns="0" tIns="0" bIns="0">
            <a:spAutoFit/>
          </a:bodyPr>
          <a:lstStyle/>
          <a:p>
            <a:pPr algn="l">
              <a:lnSpc>
                <a:spcPct val="115000"/>
              </a:lnSpc>
            </a:pPr>
            <a:r>
              <a:rPr sz="1700" b="1" i="0">
                <a:solidFill>
                  <a:srgbClr val="1B1512"/>
                </a:solidFill>
                <a:latin typeface="Cambria"/>
              </a:rPr>
              <a:t>This Week's Deliverable</a:t>
            </a:r>
          </a:p>
        </p:txBody>
      </p:sp>
      <p:sp>
        <p:nvSpPr>
          <p:cNvPr id="16" name="TextBox 15"/>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6B6259"/>
                </a:solidFill>
                <a:latin typeface="Calibri"/>
              </a:rPr>
              <a:t>CUSW 403 · Module 2 · Week 2</a:t>
            </a:r>
          </a:p>
        </p:txBody>
      </p:sp>
      <p:sp>
        <p:nvSpPr>
          <p:cNvPr id="17" name="TextBox 16"/>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6B6259"/>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C8102E"/>
                </a:solidFill>
                <a:latin typeface="Calibri"/>
              </a:rPr>
              <a:t>A BRIDGE</a:t>
            </a:r>
          </a:p>
        </p:txBody>
      </p:sp>
      <p:sp>
        <p:nvSpPr>
          <p:cNvPr id="3" name="TextBox 2"/>
          <p:cNvSpPr txBox="1"/>
          <p:nvPr/>
        </p:nvSpPr>
        <p:spPr>
          <a:xfrm>
            <a:off x="640080" y="685800"/>
            <a:ext cx="10058400" cy="822960"/>
          </a:xfrm>
          <a:prstGeom prst="rect">
            <a:avLst/>
          </a:prstGeom>
          <a:noFill/>
        </p:spPr>
        <p:txBody>
          <a:bodyPr wrap="square" anchor="t" lIns="0" rIns="0" tIns="0" bIns="0">
            <a:spAutoFit/>
          </a:bodyPr>
          <a:lstStyle/>
          <a:p>
            <a:pPr algn="l">
              <a:lnSpc>
                <a:spcPct val="115000"/>
              </a:lnSpc>
            </a:pPr>
            <a:r>
              <a:rPr sz="3400" b="1" i="0">
                <a:solidFill>
                  <a:srgbClr val="1B1512"/>
                </a:solidFill>
                <a:latin typeface="Cambria"/>
              </a:rPr>
              <a:t>Two Vocabularies, One Process</a:t>
            </a:r>
          </a:p>
        </p:txBody>
      </p:sp>
      <p:sp>
        <p:nvSpPr>
          <p:cNvPr id="4" name="TextBox 3"/>
          <p:cNvSpPr txBox="1"/>
          <p:nvPr/>
        </p:nvSpPr>
        <p:spPr>
          <a:xfrm>
            <a:off x="640080" y="1828800"/>
            <a:ext cx="10058400" cy="4023360"/>
          </a:xfrm>
          <a:prstGeom prst="rect">
            <a:avLst/>
          </a:prstGeom>
          <a:noFill/>
        </p:spPr>
        <p:txBody>
          <a:bodyPr wrap="square" anchor="t" lIns="0" rIns="0" tIns="0" bIns="0">
            <a:spAutoFit/>
          </a:bodyPr>
          <a:lstStyle/>
          <a:p>
            <a:pPr algn="l">
              <a:lnSpc>
                <a:spcPct val="135000"/>
              </a:lnSpc>
            </a:pPr>
            <a:r>
              <a:rPr sz="1900" b="0" i="0">
                <a:solidFill>
                  <a:srgbClr val="1B1512"/>
                </a:solidFill>
                <a:latin typeface="Calibri"/>
              </a:rPr>
              <a:t>Your text (Hepworth et al.) calls the sequence of practice stages “the helping process.” This course calls the same sequence the Generalist Intervention Model (GIM). They describe the same underlying work — engagement, assessment, planning, implementation, evaluation, termination, follow-up — using different labels. From here forward, we'll use GIM language, and point back to the matching Hepworth chapter each time.</a:t>
            </a:r>
          </a:p>
        </p:txBody>
      </p:sp>
      <p:sp>
        <p:nvSpPr>
          <p:cNvPr id="5" name="TextBox 4"/>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6B6259"/>
                </a:solidFill>
                <a:latin typeface="Calibri"/>
              </a:rPr>
              <a:t>CUSW 403 · Module 2 · Week 2</a:t>
            </a:r>
          </a:p>
        </p:txBody>
      </p:sp>
      <p:sp>
        <p:nvSpPr>
          <p:cNvPr id="6" name="TextBox 5"/>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6B6259"/>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C8102E"/>
                </a:solidFill>
                <a:latin typeface="Calibri"/>
              </a:rPr>
              <a:t>CONTEXT</a:t>
            </a:r>
          </a:p>
        </p:txBody>
      </p:sp>
      <p:sp>
        <p:nvSpPr>
          <p:cNvPr id="3" name="TextBox 2"/>
          <p:cNvSpPr txBox="1"/>
          <p:nvPr/>
        </p:nvSpPr>
        <p:spPr>
          <a:xfrm>
            <a:off x="640080" y="685800"/>
            <a:ext cx="10058400" cy="822960"/>
          </a:xfrm>
          <a:prstGeom prst="rect">
            <a:avLst/>
          </a:prstGeom>
          <a:noFill/>
        </p:spPr>
        <p:txBody>
          <a:bodyPr wrap="square" anchor="t" lIns="0" rIns="0" tIns="0" bIns="0">
            <a:spAutoFit/>
          </a:bodyPr>
          <a:lstStyle/>
          <a:p>
            <a:pPr algn="l">
              <a:lnSpc>
                <a:spcPct val="115000"/>
              </a:lnSpc>
            </a:pPr>
            <a:r>
              <a:rPr sz="3400" b="1" i="0">
                <a:solidFill>
                  <a:srgbClr val="1B1512"/>
                </a:solidFill>
                <a:latin typeface="Cambria"/>
              </a:rPr>
              <a:t>Why This Module Exists</a:t>
            </a:r>
          </a:p>
        </p:txBody>
      </p:sp>
      <p:sp>
        <p:nvSpPr>
          <p:cNvPr id="4" name="Rounded Rectangle 3"/>
          <p:cNvSpPr/>
          <p:nvPr/>
        </p:nvSpPr>
        <p:spPr>
          <a:xfrm>
            <a:off x="640080" y="1965960"/>
            <a:ext cx="3520440" cy="3749039"/>
          </a:xfrm>
          <a:prstGeom prst="roundRect">
            <a:avLst>
              <a:gd name="adj" fmla="val 5000"/>
            </a:avLst>
          </a:prstGeom>
          <a:solidFill>
            <a:srgbClr val="FFFFFF"/>
          </a:solidFill>
          <a:ln w="28575">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286000"/>
            <a:ext cx="2880360" cy="640080"/>
          </a:xfrm>
          <a:prstGeom prst="rect">
            <a:avLst/>
          </a:prstGeom>
          <a:noFill/>
        </p:spPr>
        <p:txBody>
          <a:bodyPr wrap="square" anchor="t" lIns="0" rIns="0" tIns="0" bIns="0">
            <a:spAutoFit/>
          </a:bodyPr>
          <a:lstStyle/>
          <a:p>
            <a:pPr algn="l">
              <a:lnSpc>
                <a:spcPct val="115000"/>
              </a:lnSpc>
            </a:pPr>
            <a:r>
              <a:rPr sz="2400" b="1" i="0">
                <a:solidFill>
                  <a:srgbClr val="C8102E"/>
                </a:solidFill>
                <a:latin typeface="Cambria"/>
              </a:rPr>
              <a:t>Not optional</a:t>
            </a:r>
          </a:p>
        </p:txBody>
      </p:sp>
      <p:sp>
        <p:nvSpPr>
          <p:cNvPr id="6" name="TextBox 5"/>
          <p:cNvSpPr txBox="1"/>
          <p:nvPr/>
        </p:nvSpPr>
        <p:spPr>
          <a:xfrm>
            <a:off x="960120" y="3017520"/>
            <a:ext cx="2880360" cy="2560320"/>
          </a:xfrm>
          <a:prstGeom prst="rect">
            <a:avLst/>
          </a:prstGeom>
          <a:noFill/>
        </p:spPr>
        <p:txBody>
          <a:bodyPr wrap="square" anchor="t" lIns="0" rIns="0" tIns="0" bIns="0">
            <a:spAutoFit/>
          </a:bodyPr>
          <a:lstStyle/>
          <a:p>
            <a:pPr algn="l">
              <a:lnSpc>
                <a:spcPct val="125000"/>
              </a:lnSpc>
            </a:pPr>
            <a:r>
              <a:rPr sz="1550" b="0" i="0">
                <a:solidFill>
                  <a:srgbClr val="1B1512"/>
                </a:solidFill>
                <a:latin typeface="Calibri"/>
              </a:rPr>
              <a:t>AI tools are already present in agencies, documentation systems, and everyday student workflows — ignoring them isn't a neutral choice.</a:t>
            </a:r>
          </a:p>
        </p:txBody>
      </p:sp>
      <p:sp>
        <p:nvSpPr>
          <p:cNvPr id="7" name="Rounded Rectangle 6"/>
          <p:cNvSpPr/>
          <p:nvPr/>
        </p:nvSpPr>
        <p:spPr>
          <a:xfrm>
            <a:off x="4343400" y="1965960"/>
            <a:ext cx="3520440" cy="3749039"/>
          </a:xfrm>
          <a:prstGeom prst="roundRect">
            <a:avLst>
              <a:gd name="adj" fmla="val 5000"/>
            </a:avLst>
          </a:prstGeom>
          <a:solidFill>
            <a:srgbClr val="FFFFFF"/>
          </a:solidFill>
          <a:ln w="28575">
            <a:solidFill>
              <a:srgbClr val="8A6D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63440" y="2286000"/>
            <a:ext cx="2880360" cy="640080"/>
          </a:xfrm>
          <a:prstGeom prst="rect">
            <a:avLst/>
          </a:prstGeom>
          <a:noFill/>
        </p:spPr>
        <p:txBody>
          <a:bodyPr wrap="square" anchor="t" lIns="0" rIns="0" tIns="0" bIns="0">
            <a:spAutoFit/>
          </a:bodyPr>
          <a:lstStyle/>
          <a:p>
            <a:pPr algn="l">
              <a:lnSpc>
                <a:spcPct val="115000"/>
              </a:lnSpc>
            </a:pPr>
            <a:r>
              <a:rPr sz="2400" b="1" i="0">
                <a:solidFill>
                  <a:srgbClr val="8A6D18"/>
                </a:solidFill>
                <a:latin typeface="Cambria"/>
              </a:rPr>
              <a:t>Ethics first</a:t>
            </a:r>
          </a:p>
        </p:txBody>
      </p:sp>
      <p:sp>
        <p:nvSpPr>
          <p:cNvPr id="9" name="TextBox 8"/>
          <p:cNvSpPr txBox="1"/>
          <p:nvPr/>
        </p:nvSpPr>
        <p:spPr>
          <a:xfrm>
            <a:off x="4663440" y="3017520"/>
            <a:ext cx="2880360" cy="2560320"/>
          </a:xfrm>
          <a:prstGeom prst="rect">
            <a:avLst/>
          </a:prstGeom>
          <a:noFill/>
        </p:spPr>
        <p:txBody>
          <a:bodyPr wrap="square" anchor="t" lIns="0" rIns="0" tIns="0" bIns="0">
            <a:spAutoFit/>
          </a:bodyPr>
          <a:lstStyle/>
          <a:p>
            <a:pPr algn="l">
              <a:lnSpc>
                <a:spcPct val="125000"/>
              </a:lnSpc>
            </a:pPr>
            <a:r>
              <a:rPr sz="1550" b="0" i="0">
                <a:solidFill>
                  <a:srgbClr val="1B1512"/>
                </a:solidFill>
                <a:latin typeface="Calibri"/>
              </a:rPr>
              <a:t>This module is placed before any client-facing skill work so the ethical frame comes first, not as an afterthought bolted onto Module 3.</a:t>
            </a:r>
          </a:p>
        </p:txBody>
      </p:sp>
      <p:sp>
        <p:nvSpPr>
          <p:cNvPr id="10" name="Rounded Rectangle 9"/>
          <p:cNvSpPr/>
          <p:nvPr/>
        </p:nvSpPr>
        <p:spPr>
          <a:xfrm>
            <a:off x="8046720" y="1965960"/>
            <a:ext cx="3520440" cy="3749039"/>
          </a:xfrm>
          <a:prstGeom prst="roundRect">
            <a:avLst>
              <a:gd name="adj" fmla="val 5000"/>
            </a:avLst>
          </a:prstGeom>
          <a:solidFill>
            <a:srgbClr val="FFFFFF"/>
          </a:solidFill>
          <a:ln w="28575">
            <a:solidFill>
              <a:srgbClr val="6B62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66760" y="2286000"/>
            <a:ext cx="2880360" cy="640080"/>
          </a:xfrm>
          <a:prstGeom prst="rect">
            <a:avLst/>
          </a:prstGeom>
          <a:noFill/>
        </p:spPr>
        <p:txBody>
          <a:bodyPr wrap="square" anchor="t" lIns="0" rIns="0" tIns="0" bIns="0">
            <a:spAutoFit/>
          </a:bodyPr>
          <a:lstStyle/>
          <a:p>
            <a:pPr algn="l">
              <a:lnSpc>
                <a:spcPct val="115000"/>
              </a:lnSpc>
            </a:pPr>
            <a:r>
              <a:rPr sz="2400" b="1" i="0">
                <a:solidFill>
                  <a:srgbClr val="6B6259"/>
                </a:solidFill>
                <a:latin typeface="Cambria"/>
              </a:rPr>
              <a:t>Modeled, not just taught</a:t>
            </a:r>
          </a:p>
        </p:txBody>
      </p:sp>
      <p:sp>
        <p:nvSpPr>
          <p:cNvPr id="12" name="TextBox 11"/>
          <p:cNvSpPr txBox="1"/>
          <p:nvPr/>
        </p:nvSpPr>
        <p:spPr>
          <a:xfrm>
            <a:off x="8366760" y="3017520"/>
            <a:ext cx="2880360" cy="2560320"/>
          </a:xfrm>
          <a:prstGeom prst="rect">
            <a:avLst/>
          </a:prstGeom>
          <a:noFill/>
        </p:spPr>
        <p:txBody>
          <a:bodyPr wrap="square" anchor="t" lIns="0" rIns="0" tIns="0" bIns="0">
            <a:spAutoFit/>
          </a:bodyPr>
          <a:lstStyle/>
          <a:p>
            <a:pPr algn="l">
              <a:lnSpc>
                <a:spcPct val="125000"/>
              </a:lnSpc>
            </a:pPr>
            <a:r>
              <a:rPr sz="1550" b="0" i="0">
                <a:solidFill>
                  <a:srgbClr val="1B1512"/>
                </a:solidFill>
                <a:latin typeface="Calibri"/>
              </a:rPr>
              <a:t>You'll meet the Practice Coach this week — a live example of an AI tool built around an explicit ethical boundary.</a:t>
            </a:r>
          </a:p>
        </p:txBody>
      </p:sp>
      <p:sp>
        <p:nvSpPr>
          <p:cNvPr id="13" name="TextBox 12"/>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6B6259"/>
                </a:solidFill>
                <a:latin typeface="Calibri"/>
              </a:rPr>
              <a:t>CUSW 403 · Module 2 · Week 2</a:t>
            </a:r>
          </a:p>
        </p:txBody>
      </p:sp>
      <p:sp>
        <p:nvSpPr>
          <p:cNvPr id="14" name="TextBox 13"/>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6B6259"/>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1512"/>
        </a:solidFill>
        <a:effectLst/>
      </p:bgPr>
    </p:bg>
    <p:spTree>
      <p:nvGrpSpPr>
        <p:cNvPr id="1" name=""/>
        <p:cNvGrpSpPr/>
        <p:nvPr/>
      </p:nvGrpSpPr>
      <p:grpSpPr/>
      <p:sp>
        <p:nvSpPr>
          <p:cNvPr id="2" name="TextBox 1"/>
          <p:cNvSpPr txBox="1"/>
          <p:nvPr/>
        </p:nvSpPr>
        <p:spPr>
          <a:xfrm>
            <a:off x="914400" y="2651760"/>
            <a:ext cx="10332720" cy="457200"/>
          </a:xfrm>
          <a:prstGeom prst="rect">
            <a:avLst/>
          </a:prstGeom>
          <a:noFill/>
        </p:spPr>
        <p:txBody>
          <a:bodyPr wrap="square" anchor="t" lIns="0" rIns="0" tIns="0" bIns="0">
            <a:spAutoFit/>
          </a:bodyPr>
          <a:lstStyle/>
          <a:p>
            <a:pPr algn="l">
              <a:lnSpc>
                <a:spcPct val="115000"/>
              </a:lnSpc>
            </a:pPr>
            <a:r>
              <a:rPr sz="1500" b="1" i="0">
                <a:solidFill>
                  <a:srgbClr val="EAAA00"/>
                </a:solidFill>
                <a:latin typeface="Calibri"/>
              </a:rPr>
              <a:t>PART 1</a:t>
            </a:r>
          </a:p>
        </p:txBody>
      </p:sp>
      <p:sp>
        <p:nvSpPr>
          <p:cNvPr id="3" name="TextBox 2"/>
          <p:cNvSpPr txBox="1"/>
          <p:nvPr/>
        </p:nvSpPr>
        <p:spPr>
          <a:xfrm>
            <a:off x="914400" y="3063240"/>
            <a:ext cx="10332720" cy="1463040"/>
          </a:xfrm>
          <a:prstGeom prst="rect">
            <a:avLst/>
          </a:prstGeom>
          <a:noFill/>
        </p:spPr>
        <p:txBody>
          <a:bodyPr wrap="square" anchor="t" lIns="0" rIns="0" tIns="0" bIns="0">
            <a:spAutoFit/>
          </a:bodyPr>
          <a:lstStyle/>
          <a:p>
            <a:pPr algn="l">
              <a:lnSpc>
                <a:spcPct val="115000"/>
              </a:lnSpc>
            </a:pPr>
            <a:r>
              <a:rPr sz="4200" b="1" i="0">
                <a:solidFill>
                  <a:srgbClr val="FFFFFF"/>
                </a:solidFill>
                <a:latin typeface="Cambria"/>
              </a:rPr>
              <a:t>Benefits &amp; Real Risks</a:t>
            </a:r>
          </a:p>
        </p:txBody>
      </p:sp>
      <p:sp>
        <p:nvSpPr>
          <p:cNvPr id="4" name="TextBox 3"/>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E3DCCE"/>
                </a:solidFill>
                <a:latin typeface="Calibri"/>
              </a:rPr>
              <a:t>CUSW 403 · Module 2 · Week 2</a:t>
            </a:r>
          </a:p>
        </p:txBody>
      </p:sp>
      <p:sp>
        <p:nvSpPr>
          <p:cNvPr id="5" name="TextBox 4"/>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E3DCC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C8102E"/>
                </a:solidFill>
                <a:latin typeface="Calibri"/>
              </a:rPr>
              <a:t>BENEFITS</a:t>
            </a:r>
          </a:p>
        </p:txBody>
      </p:sp>
      <p:sp>
        <p:nvSpPr>
          <p:cNvPr id="3" name="TextBox 2"/>
          <p:cNvSpPr txBox="1"/>
          <p:nvPr/>
        </p:nvSpPr>
        <p:spPr>
          <a:xfrm>
            <a:off x="640080" y="685800"/>
            <a:ext cx="10058400" cy="822960"/>
          </a:xfrm>
          <a:prstGeom prst="rect">
            <a:avLst/>
          </a:prstGeom>
          <a:noFill/>
        </p:spPr>
        <p:txBody>
          <a:bodyPr wrap="square" anchor="t" lIns="0" rIns="0" tIns="0" bIns="0">
            <a:spAutoFit/>
          </a:bodyPr>
          <a:lstStyle/>
          <a:p>
            <a:pPr algn="l">
              <a:lnSpc>
                <a:spcPct val="115000"/>
              </a:lnSpc>
            </a:pPr>
            <a:r>
              <a:rPr sz="3400" b="1" i="0">
                <a:solidFill>
                  <a:srgbClr val="1B1512"/>
                </a:solidFill>
                <a:latin typeface="Cambria"/>
              </a:rPr>
              <a:t>Where AI Can Genuinely Help</a:t>
            </a:r>
          </a:p>
        </p:txBody>
      </p:sp>
      <p:sp>
        <p:nvSpPr>
          <p:cNvPr id="4" name="Oval 3"/>
          <p:cNvSpPr/>
          <p:nvPr/>
        </p:nvSpPr>
        <p:spPr>
          <a:xfrm>
            <a:off x="640080" y="1828800"/>
            <a:ext cx="640080" cy="64008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a:solidFill>
                  <a:srgbClr val="FFFFFF"/>
                </a:solidFill>
                <a:latin typeface="Cambria"/>
              </a:rPr>
              <a:t>1</a:t>
            </a:r>
          </a:p>
        </p:txBody>
      </p:sp>
      <p:sp>
        <p:nvSpPr>
          <p:cNvPr id="5" name="TextBox 4"/>
          <p:cNvSpPr txBox="1"/>
          <p:nvPr/>
        </p:nvSpPr>
        <p:spPr>
          <a:xfrm>
            <a:off x="1600200" y="1801368"/>
            <a:ext cx="9144000" cy="457200"/>
          </a:xfrm>
          <a:prstGeom prst="rect">
            <a:avLst/>
          </a:prstGeom>
          <a:noFill/>
        </p:spPr>
        <p:txBody>
          <a:bodyPr wrap="square" anchor="t" lIns="0" rIns="0" tIns="0" bIns="0">
            <a:spAutoFit/>
          </a:bodyPr>
          <a:lstStyle/>
          <a:p>
            <a:pPr algn="l">
              <a:lnSpc>
                <a:spcPct val="115000"/>
              </a:lnSpc>
            </a:pPr>
            <a:r>
              <a:rPr sz="1800" b="1" i="0">
                <a:solidFill>
                  <a:srgbClr val="1B1512"/>
                </a:solidFill>
                <a:latin typeface="Cambria"/>
              </a:rPr>
              <a:t>Documentation support</a:t>
            </a:r>
          </a:p>
        </p:txBody>
      </p:sp>
      <p:sp>
        <p:nvSpPr>
          <p:cNvPr id="6" name="TextBox 5"/>
          <p:cNvSpPr txBox="1"/>
          <p:nvPr/>
        </p:nvSpPr>
        <p:spPr>
          <a:xfrm>
            <a:off x="1600200" y="2267712"/>
            <a:ext cx="9326880" cy="662940"/>
          </a:xfrm>
          <a:prstGeom prst="rect">
            <a:avLst/>
          </a:prstGeom>
          <a:noFill/>
        </p:spPr>
        <p:txBody>
          <a:bodyPr wrap="square" anchor="t" lIns="0" rIns="0" tIns="0" bIns="0">
            <a:spAutoFit/>
          </a:bodyPr>
          <a:lstStyle/>
          <a:p>
            <a:pPr algn="l">
              <a:lnSpc>
                <a:spcPct val="120000"/>
              </a:lnSpc>
            </a:pPr>
            <a:r>
              <a:rPr sz="1450" b="0" i="0">
                <a:solidFill>
                  <a:srgbClr val="6B6259"/>
                </a:solidFill>
                <a:latin typeface="Calibri"/>
              </a:rPr>
              <a:t>Drafting structure for case notes, summarizing lengthy records — always reviewed and finalized by the practitioner.</a:t>
            </a:r>
          </a:p>
        </p:txBody>
      </p:sp>
      <p:sp>
        <p:nvSpPr>
          <p:cNvPr id="7" name="Oval 6"/>
          <p:cNvSpPr/>
          <p:nvPr/>
        </p:nvSpPr>
        <p:spPr>
          <a:xfrm>
            <a:off x="640080" y="2948940"/>
            <a:ext cx="640080" cy="64008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a:solidFill>
                  <a:srgbClr val="FFFFFF"/>
                </a:solidFill>
                <a:latin typeface="Cambria"/>
              </a:rPr>
              <a:t>2</a:t>
            </a:r>
          </a:p>
        </p:txBody>
      </p:sp>
      <p:sp>
        <p:nvSpPr>
          <p:cNvPr id="8" name="TextBox 7"/>
          <p:cNvSpPr txBox="1"/>
          <p:nvPr/>
        </p:nvSpPr>
        <p:spPr>
          <a:xfrm>
            <a:off x="1600200" y="2921508"/>
            <a:ext cx="9144000" cy="457200"/>
          </a:xfrm>
          <a:prstGeom prst="rect">
            <a:avLst/>
          </a:prstGeom>
          <a:noFill/>
        </p:spPr>
        <p:txBody>
          <a:bodyPr wrap="square" anchor="t" lIns="0" rIns="0" tIns="0" bIns="0">
            <a:spAutoFit/>
          </a:bodyPr>
          <a:lstStyle/>
          <a:p>
            <a:pPr algn="l">
              <a:lnSpc>
                <a:spcPct val="115000"/>
              </a:lnSpc>
            </a:pPr>
            <a:r>
              <a:rPr sz="1800" b="1" i="0">
                <a:solidFill>
                  <a:srgbClr val="1B1512"/>
                </a:solidFill>
                <a:latin typeface="Cambria"/>
              </a:rPr>
              <a:t>Research &amp; literature access</a:t>
            </a:r>
          </a:p>
        </p:txBody>
      </p:sp>
      <p:sp>
        <p:nvSpPr>
          <p:cNvPr id="9" name="TextBox 8"/>
          <p:cNvSpPr txBox="1"/>
          <p:nvPr/>
        </p:nvSpPr>
        <p:spPr>
          <a:xfrm>
            <a:off x="1600200" y="3387852"/>
            <a:ext cx="9326880" cy="662940"/>
          </a:xfrm>
          <a:prstGeom prst="rect">
            <a:avLst/>
          </a:prstGeom>
          <a:noFill/>
        </p:spPr>
        <p:txBody>
          <a:bodyPr wrap="square" anchor="t" lIns="0" rIns="0" tIns="0" bIns="0">
            <a:spAutoFit/>
          </a:bodyPr>
          <a:lstStyle/>
          <a:p>
            <a:pPr algn="l">
              <a:lnSpc>
                <a:spcPct val="120000"/>
              </a:lnSpc>
            </a:pPr>
            <a:r>
              <a:rPr sz="1450" b="0" i="0">
                <a:solidFill>
                  <a:srgbClr val="6B6259"/>
                </a:solidFill>
                <a:latin typeface="Calibri"/>
              </a:rPr>
              <a:t>Surfacing relevant research or resources faster than manual search alone.</a:t>
            </a:r>
          </a:p>
        </p:txBody>
      </p:sp>
      <p:sp>
        <p:nvSpPr>
          <p:cNvPr id="10" name="Oval 9"/>
          <p:cNvSpPr/>
          <p:nvPr/>
        </p:nvSpPr>
        <p:spPr>
          <a:xfrm>
            <a:off x="640080" y="4069080"/>
            <a:ext cx="640080" cy="64008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a:solidFill>
                  <a:srgbClr val="FFFFFF"/>
                </a:solidFill>
                <a:latin typeface="Cambria"/>
              </a:rPr>
              <a:t>3</a:t>
            </a:r>
          </a:p>
        </p:txBody>
      </p:sp>
      <p:sp>
        <p:nvSpPr>
          <p:cNvPr id="11" name="TextBox 10"/>
          <p:cNvSpPr txBox="1"/>
          <p:nvPr/>
        </p:nvSpPr>
        <p:spPr>
          <a:xfrm>
            <a:off x="1600200" y="4041648"/>
            <a:ext cx="9144000" cy="457200"/>
          </a:xfrm>
          <a:prstGeom prst="rect">
            <a:avLst/>
          </a:prstGeom>
          <a:noFill/>
        </p:spPr>
        <p:txBody>
          <a:bodyPr wrap="square" anchor="t" lIns="0" rIns="0" tIns="0" bIns="0">
            <a:spAutoFit/>
          </a:bodyPr>
          <a:lstStyle/>
          <a:p>
            <a:pPr algn="l">
              <a:lnSpc>
                <a:spcPct val="115000"/>
              </a:lnSpc>
            </a:pPr>
            <a:r>
              <a:rPr sz="1800" b="1" i="0">
                <a:solidFill>
                  <a:srgbClr val="1B1512"/>
                </a:solidFill>
                <a:latin typeface="Cambria"/>
              </a:rPr>
              <a:t>Accessibility</a:t>
            </a:r>
          </a:p>
        </p:txBody>
      </p:sp>
      <p:sp>
        <p:nvSpPr>
          <p:cNvPr id="12" name="TextBox 11"/>
          <p:cNvSpPr txBox="1"/>
          <p:nvPr/>
        </p:nvSpPr>
        <p:spPr>
          <a:xfrm>
            <a:off x="1600200" y="4507992"/>
            <a:ext cx="9326880" cy="662940"/>
          </a:xfrm>
          <a:prstGeom prst="rect">
            <a:avLst/>
          </a:prstGeom>
          <a:noFill/>
        </p:spPr>
        <p:txBody>
          <a:bodyPr wrap="square" anchor="t" lIns="0" rIns="0" tIns="0" bIns="0">
            <a:spAutoFit/>
          </a:bodyPr>
          <a:lstStyle/>
          <a:p>
            <a:pPr algn="l">
              <a:lnSpc>
                <a:spcPct val="120000"/>
              </a:lnSpc>
            </a:pPr>
            <a:r>
              <a:rPr sz="1450" b="0" i="0">
                <a:solidFill>
                  <a:srgbClr val="6B6259"/>
                </a:solidFill>
                <a:latin typeface="Calibri"/>
              </a:rPr>
              <a:t>Text-to-speech, translation, and plain-language support for clients and practitioners.</a:t>
            </a:r>
          </a:p>
        </p:txBody>
      </p:sp>
      <p:sp>
        <p:nvSpPr>
          <p:cNvPr id="13" name="Oval 12"/>
          <p:cNvSpPr/>
          <p:nvPr/>
        </p:nvSpPr>
        <p:spPr>
          <a:xfrm>
            <a:off x="640080" y="5189220"/>
            <a:ext cx="640080" cy="64008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a:solidFill>
                  <a:srgbClr val="FFFFFF"/>
                </a:solidFill>
                <a:latin typeface="Cambria"/>
              </a:rPr>
              <a:t>4</a:t>
            </a:r>
          </a:p>
        </p:txBody>
      </p:sp>
      <p:sp>
        <p:nvSpPr>
          <p:cNvPr id="14" name="TextBox 13"/>
          <p:cNvSpPr txBox="1"/>
          <p:nvPr/>
        </p:nvSpPr>
        <p:spPr>
          <a:xfrm>
            <a:off x="1600200" y="5161788"/>
            <a:ext cx="9144000" cy="457200"/>
          </a:xfrm>
          <a:prstGeom prst="rect">
            <a:avLst/>
          </a:prstGeom>
          <a:noFill/>
        </p:spPr>
        <p:txBody>
          <a:bodyPr wrap="square" anchor="t" lIns="0" rIns="0" tIns="0" bIns="0">
            <a:spAutoFit/>
          </a:bodyPr>
          <a:lstStyle/>
          <a:p>
            <a:pPr algn="l">
              <a:lnSpc>
                <a:spcPct val="115000"/>
              </a:lnSpc>
            </a:pPr>
            <a:r>
              <a:rPr sz="1800" b="1" i="0">
                <a:solidFill>
                  <a:srgbClr val="1B1512"/>
                </a:solidFill>
                <a:latin typeface="Cambria"/>
              </a:rPr>
              <a:t>Administrative efficiency</a:t>
            </a:r>
          </a:p>
        </p:txBody>
      </p:sp>
      <p:sp>
        <p:nvSpPr>
          <p:cNvPr id="15" name="TextBox 14"/>
          <p:cNvSpPr txBox="1"/>
          <p:nvPr/>
        </p:nvSpPr>
        <p:spPr>
          <a:xfrm>
            <a:off x="1600200" y="5628132"/>
            <a:ext cx="9326880" cy="662940"/>
          </a:xfrm>
          <a:prstGeom prst="rect">
            <a:avLst/>
          </a:prstGeom>
          <a:noFill/>
        </p:spPr>
        <p:txBody>
          <a:bodyPr wrap="square" anchor="t" lIns="0" rIns="0" tIns="0" bIns="0">
            <a:spAutoFit/>
          </a:bodyPr>
          <a:lstStyle/>
          <a:p>
            <a:pPr algn="l">
              <a:lnSpc>
                <a:spcPct val="120000"/>
              </a:lnSpc>
            </a:pPr>
            <a:r>
              <a:rPr sz="1450" b="0" i="0">
                <a:solidFill>
                  <a:srgbClr val="6B6259"/>
                </a:solidFill>
                <a:latin typeface="Calibri"/>
              </a:rPr>
              <a:t>Freeing practitioner time from paperwork toward direct client contact.</a:t>
            </a:r>
          </a:p>
        </p:txBody>
      </p:sp>
      <p:sp>
        <p:nvSpPr>
          <p:cNvPr id="16" name="TextBox 15"/>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6B6259"/>
                </a:solidFill>
                <a:latin typeface="Calibri"/>
              </a:rPr>
              <a:t>CUSW 403 · Module 2 · Week 2</a:t>
            </a:r>
          </a:p>
        </p:txBody>
      </p:sp>
      <p:sp>
        <p:nvSpPr>
          <p:cNvPr id="17" name="TextBox 16"/>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6B6259"/>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C8102E"/>
                </a:solidFill>
                <a:latin typeface="Calibri"/>
              </a:rPr>
              <a:t>RISKS</a:t>
            </a:r>
          </a:p>
        </p:txBody>
      </p:sp>
      <p:sp>
        <p:nvSpPr>
          <p:cNvPr id="3" name="TextBox 2"/>
          <p:cNvSpPr txBox="1"/>
          <p:nvPr/>
        </p:nvSpPr>
        <p:spPr>
          <a:xfrm>
            <a:off x="640080" y="685800"/>
            <a:ext cx="10058400" cy="822960"/>
          </a:xfrm>
          <a:prstGeom prst="rect">
            <a:avLst/>
          </a:prstGeom>
          <a:noFill/>
        </p:spPr>
        <p:txBody>
          <a:bodyPr wrap="square" anchor="t" lIns="0" rIns="0" tIns="0" bIns="0">
            <a:spAutoFit/>
          </a:bodyPr>
          <a:lstStyle/>
          <a:p>
            <a:pPr algn="l">
              <a:lnSpc>
                <a:spcPct val="115000"/>
              </a:lnSpc>
            </a:pPr>
            <a:r>
              <a:rPr sz="3400" b="1" i="0">
                <a:solidFill>
                  <a:srgbClr val="1B1512"/>
                </a:solidFill>
                <a:latin typeface="Cambria"/>
              </a:rPr>
              <a:t>Where It Genuinely Goes Wrong</a:t>
            </a:r>
          </a:p>
        </p:txBody>
      </p:sp>
      <p:sp>
        <p:nvSpPr>
          <p:cNvPr id="4" name="Oval 3"/>
          <p:cNvSpPr/>
          <p:nvPr/>
        </p:nvSpPr>
        <p:spPr>
          <a:xfrm>
            <a:off x="640080" y="1828800"/>
            <a:ext cx="640080" cy="64008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a:solidFill>
                  <a:srgbClr val="FFFFFF"/>
                </a:solidFill>
                <a:latin typeface="Cambria"/>
              </a:rPr>
              <a:t>1</a:t>
            </a:r>
          </a:p>
        </p:txBody>
      </p:sp>
      <p:sp>
        <p:nvSpPr>
          <p:cNvPr id="5" name="TextBox 4"/>
          <p:cNvSpPr txBox="1"/>
          <p:nvPr/>
        </p:nvSpPr>
        <p:spPr>
          <a:xfrm>
            <a:off x="1600200" y="1801368"/>
            <a:ext cx="9144000" cy="457200"/>
          </a:xfrm>
          <a:prstGeom prst="rect">
            <a:avLst/>
          </a:prstGeom>
          <a:noFill/>
        </p:spPr>
        <p:txBody>
          <a:bodyPr wrap="square" anchor="t" lIns="0" rIns="0" tIns="0" bIns="0">
            <a:spAutoFit/>
          </a:bodyPr>
          <a:lstStyle/>
          <a:p>
            <a:pPr algn="l">
              <a:lnSpc>
                <a:spcPct val="115000"/>
              </a:lnSpc>
            </a:pPr>
            <a:r>
              <a:rPr sz="1800" b="1" i="0">
                <a:solidFill>
                  <a:srgbClr val="1B1512"/>
                </a:solidFill>
                <a:latin typeface="Cambria"/>
              </a:rPr>
              <a:t>Confidentiality</a:t>
            </a:r>
          </a:p>
        </p:txBody>
      </p:sp>
      <p:sp>
        <p:nvSpPr>
          <p:cNvPr id="6" name="TextBox 5"/>
          <p:cNvSpPr txBox="1"/>
          <p:nvPr/>
        </p:nvSpPr>
        <p:spPr>
          <a:xfrm>
            <a:off x="1600200" y="2267712"/>
            <a:ext cx="9326880" cy="1036320"/>
          </a:xfrm>
          <a:prstGeom prst="rect">
            <a:avLst/>
          </a:prstGeom>
          <a:noFill/>
        </p:spPr>
        <p:txBody>
          <a:bodyPr wrap="square" anchor="t" lIns="0" rIns="0" tIns="0" bIns="0">
            <a:spAutoFit/>
          </a:bodyPr>
          <a:lstStyle/>
          <a:p>
            <a:pPr algn="l">
              <a:lnSpc>
                <a:spcPct val="120000"/>
              </a:lnSpc>
            </a:pPr>
            <a:r>
              <a:rPr sz="1450" b="0" i="0">
                <a:solidFill>
                  <a:srgbClr val="6B6259"/>
                </a:solidFill>
                <a:latin typeface="Calibri"/>
              </a:rPr>
              <a:t>Entering identifiable client information into a public AI tool can violate confidentiality obligations outright.</a:t>
            </a:r>
          </a:p>
        </p:txBody>
      </p:sp>
      <p:sp>
        <p:nvSpPr>
          <p:cNvPr id="7" name="Oval 6"/>
          <p:cNvSpPr/>
          <p:nvPr/>
        </p:nvSpPr>
        <p:spPr>
          <a:xfrm>
            <a:off x="640080" y="3322320"/>
            <a:ext cx="640080" cy="64008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a:solidFill>
                  <a:srgbClr val="FFFFFF"/>
                </a:solidFill>
                <a:latin typeface="Cambria"/>
              </a:rPr>
              <a:t>2</a:t>
            </a:r>
          </a:p>
        </p:txBody>
      </p:sp>
      <p:sp>
        <p:nvSpPr>
          <p:cNvPr id="8" name="TextBox 7"/>
          <p:cNvSpPr txBox="1"/>
          <p:nvPr/>
        </p:nvSpPr>
        <p:spPr>
          <a:xfrm>
            <a:off x="1600200" y="3294888"/>
            <a:ext cx="9144000" cy="457200"/>
          </a:xfrm>
          <a:prstGeom prst="rect">
            <a:avLst/>
          </a:prstGeom>
          <a:noFill/>
        </p:spPr>
        <p:txBody>
          <a:bodyPr wrap="square" anchor="t" lIns="0" rIns="0" tIns="0" bIns="0">
            <a:spAutoFit/>
          </a:bodyPr>
          <a:lstStyle/>
          <a:p>
            <a:pPr algn="l">
              <a:lnSpc>
                <a:spcPct val="115000"/>
              </a:lnSpc>
            </a:pPr>
            <a:r>
              <a:rPr sz="1800" b="1" i="0">
                <a:solidFill>
                  <a:srgbClr val="1B1512"/>
                </a:solidFill>
                <a:latin typeface="Cambria"/>
              </a:rPr>
              <a:t>Bias</a:t>
            </a:r>
          </a:p>
        </p:txBody>
      </p:sp>
      <p:sp>
        <p:nvSpPr>
          <p:cNvPr id="9" name="TextBox 8"/>
          <p:cNvSpPr txBox="1"/>
          <p:nvPr/>
        </p:nvSpPr>
        <p:spPr>
          <a:xfrm>
            <a:off x="1600200" y="3761232"/>
            <a:ext cx="9326880" cy="1036320"/>
          </a:xfrm>
          <a:prstGeom prst="rect">
            <a:avLst/>
          </a:prstGeom>
          <a:noFill/>
        </p:spPr>
        <p:txBody>
          <a:bodyPr wrap="square" anchor="t" lIns="0" rIns="0" tIns="0" bIns="0">
            <a:spAutoFit/>
          </a:bodyPr>
          <a:lstStyle/>
          <a:p>
            <a:pPr algn="l">
              <a:lnSpc>
                <a:spcPct val="120000"/>
              </a:lnSpc>
            </a:pPr>
            <a:r>
              <a:rPr sz="1450" b="0" i="0">
                <a:solidFill>
                  <a:srgbClr val="6B6259"/>
                </a:solidFill>
                <a:latin typeface="Calibri"/>
              </a:rPr>
              <a:t>Models trained on biased data can reproduce and launder racial, gender, and class bias behind a veneer of neutrality.</a:t>
            </a:r>
          </a:p>
        </p:txBody>
      </p:sp>
      <p:sp>
        <p:nvSpPr>
          <p:cNvPr id="10" name="Oval 9"/>
          <p:cNvSpPr/>
          <p:nvPr/>
        </p:nvSpPr>
        <p:spPr>
          <a:xfrm>
            <a:off x="640080" y="4815840"/>
            <a:ext cx="640080" cy="64008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a:solidFill>
                  <a:srgbClr val="FFFFFF"/>
                </a:solidFill>
                <a:latin typeface="Cambria"/>
              </a:rPr>
              <a:t>3</a:t>
            </a:r>
          </a:p>
        </p:txBody>
      </p:sp>
      <p:sp>
        <p:nvSpPr>
          <p:cNvPr id="11" name="TextBox 10"/>
          <p:cNvSpPr txBox="1"/>
          <p:nvPr/>
        </p:nvSpPr>
        <p:spPr>
          <a:xfrm>
            <a:off x="1600200" y="4788408"/>
            <a:ext cx="9144000" cy="457200"/>
          </a:xfrm>
          <a:prstGeom prst="rect">
            <a:avLst/>
          </a:prstGeom>
          <a:noFill/>
        </p:spPr>
        <p:txBody>
          <a:bodyPr wrap="square" anchor="t" lIns="0" rIns="0" tIns="0" bIns="0">
            <a:spAutoFit/>
          </a:bodyPr>
          <a:lstStyle/>
          <a:p>
            <a:pPr algn="l">
              <a:lnSpc>
                <a:spcPct val="115000"/>
              </a:lnSpc>
            </a:pPr>
            <a:r>
              <a:rPr sz="1800" b="1" i="0">
                <a:solidFill>
                  <a:srgbClr val="1B1512"/>
                </a:solidFill>
                <a:latin typeface="Cambria"/>
              </a:rPr>
              <a:t>Over-reliance</a:t>
            </a:r>
          </a:p>
        </p:txBody>
      </p:sp>
      <p:sp>
        <p:nvSpPr>
          <p:cNvPr id="12" name="TextBox 11"/>
          <p:cNvSpPr txBox="1"/>
          <p:nvPr/>
        </p:nvSpPr>
        <p:spPr>
          <a:xfrm>
            <a:off x="1600200" y="5254752"/>
            <a:ext cx="9326880" cy="1036320"/>
          </a:xfrm>
          <a:prstGeom prst="rect">
            <a:avLst/>
          </a:prstGeom>
          <a:noFill/>
        </p:spPr>
        <p:txBody>
          <a:bodyPr wrap="square" anchor="t" lIns="0" rIns="0" tIns="0" bIns="0">
            <a:spAutoFit/>
          </a:bodyPr>
          <a:lstStyle/>
          <a:p>
            <a:pPr algn="l">
              <a:lnSpc>
                <a:spcPct val="120000"/>
              </a:lnSpc>
            </a:pPr>
            <a:r>
              <a:rPr sz="1450" b="0" i="0">
                <a:solidFill>
                  <a:srgbClr val="6B6259"/>
                </a:solidFill>
                <a:latin typeface="Calibri"/>
              </a:rPr>
              <a:t>Letting a tool substitute for professional judgment erodes the clinical skill it was supposed to support.</a:t>
            </a:r>
          </a:p>
        </p:txBody>
      </p:sp>
      <p:sp>
        <p:nvSpPr>
          <p:cNvPr id="13" name="TextBox 12"/>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6B6259"/>
                </a:solidFill>
                <a:latin typeface="Calibri"/>
              </a:rPr>
              <a:t>CUSW 403 · Module 2 · Week 2</a:t>
            </a:r>
          </a:p>
        </p:txBody>
      </p:sp>
      <p:sp>
        <p:nvSpPr>
          <p:cNvPr id="14" name="TextBox 13"/>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6B6259"/>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C8102E"/>
                </a:solidFill>
                <a:latin typeface="Calibri"/>
              </a:rPr>
              <a:t>A RULE OF THUMB</a:t>
            </a:r>
          </a:p>
        </p:txBody>
      </p:sp>
      <p:sp>
        <p:nvSpPr>
          <p:cNvPr id="3" name="TextBox 2"/>
          <p:cNvSpPr txBox="1"/>
          <p:nvPr/>
        </p:nvSpPr>
        <p:spPr>
          <a:xfrm>
            <a:off x="640080" y="685800"/>
            <a:ext cx="10058400" cy="822960"/>
          </a:xfrm>
          <a:prstGeom prst="rect">
            <a:avLst/>
          </a:prstGeom>
          <a:noFill/>
        </p:spPr>
        <p:txBody>
          <a:bodyPr wrap="square" anchor="t" lIns="0" rIns="0" tIns="0" bIns="0">
            <a:spAutoFit/>
          </a:bodyPr>
          <a:lstStyle/>
          <a:p>
            <a:pPr algn="l">
              <a:lnSpc>
                <a:spcPct val="115000"/>
              </a:lnSpc>
            </a:pPr>
            <a:r>
              <a:rPr sz="3400" b="1" i="0">
                <a:solidFill>
                  <a:srgbClr val="1B1512"/>
                </a:solidFill>
                <a:latin typeface="Cambria"/>
              </a:rPr>
              <a:t>The Question to Ask Yourself</a:t>
            </a:r>
          </a:p>
        </p:txBody>
      </p:sp>
      <p:sp>
        <p:nvSpPr>
          <p:cNvPr id="4" name="TextBox 3"/>
          <p:cNvSpPr txBox="1"/>
          <p:nvPr/>
        </p:nvSpPr>
        <p:spPr>
          <a:xfrm>
            <a:off x="640080" y="1828800"/>
            <a:ext cx="10058400" cy="4023360"/>
          </a:xfrm>
          <a:prstGeom prst="rect">
            <a:avLst/>
          </a:prstGeom>
          <a:noFill/>
        </p:spPr>
        <p:txBody>
          <a:bodyPr wrap="square" anchor="t" lIns="0" rIns="0" tIns="0" bIns="0">
            <a:spAutoFit/>
          </a:bodyPr>
          <a:lstStyle/>
          <a:p>
            <a:pPr algn="l">
              <a:lnSpc>
                <a:spcPct val="135000"/>
              </a:lnSpc>
            </a:pPr>
            <a:r>
              <a:rPr sz="1900" b="0" i="0">
                <a:solidFill>
                  <a:srgbClr val="1B1512"/>
                </a:solidFill>
                <a:latin typeface="Calibri"/>
              </a:rPr>
              <a:t>Before using any AI tool in practice-adjacent work, ask: would I be comfortable explaining exactly what I entered, to my supervisor, to the client, and in a licensing hearing? If the answer to any of those is no, the boundary has already been crossed — stop and reconsider, rather than proceeding and hoping it goes unnoticed.</a:t>
            </a:r>
          </a:p>
        </p:txBody>
      </p:sp>
      <p:sp>
        <p:nvSpPr>
          <p:cNvPr id="5" name="TextBox 4"/>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6B6259"/>
                </a:solidFill>
                <a:latin typeface="Calibri"/>
              </a:rPr>
              <a:t>CUSW 403 · Module 2 · Week 2</a:t>
            </a:r>
          </a:p>
        </p:txBody>
      </p:sp>
      <p:sp>
        <p:nvSpPr>
          <p:cNvPr id="6" name="TextBox 5"/>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6B6259"/>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B1512"/>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EAAA00"/>
                </a:solidFill>
                <a:latin typeface="Calibri"/>
              </a:rPr>
              <a:t>MYTH VS. REALITY</a:t>
            </a:r>
          </a:p>
        </p:txBody>
      </p:sp>
      <p:sp>
        <p:nvSpPr>
          <p:cNvPr id="3" name="TextBox 2"/>
          <p:cNvSpPr txBox="1"/>
          <p:nvPr/>
        </p:nvSpPr>
        <p:spPr>
          <a:xfrm>
            <a:off x="822960" y="1737360"/>
            <a:ext cx="10515600" cy="1188720"/>
          </a:xfrm>
          <a:prstGeom prst="rect">
            <a:avLst/>
          </a:prstGeom>
          <a:noFill/>
        </p:spPr>
        <p:txBody>
          <a:bodyPr wrap="square" anchor="t" lIns="0" rIns="0" tIns="0" bIns="0">
            <a:spAutoFit/>
          </a:bodyPr>
          <a:lstStyle/>
          <a:p>
            <a:pPr algn="l">
              <a:lnSpc>
                <a:spcPct val="115000"/>
              </a:lnSpc>
            </a:pPr>
            <a:r>
              <a:rPr sz="3000" b="1" i="1">
                <a:solidFill>
                  <a:srgbClr val="FFFFFF"/>
                </a:solidFill>
                <a:latin typeface="Cambria"/>
              </a:rPr>
              <a:t>"Using AI is inherently unethical in social work."</a:t>
            </a:r>
          </a:p>
        </p:txBody>
      </p:sp>
      <p:sp>
        <p:nvSpPr>
          <p:cNvPr id="4" name="Rounded Rectangle 3"/>
          <p:cNvSpPr/>
          <p:nvPr/>
        </p:nvSpPr>
        <p:spPr>
          <a:xfrm>
            <a:off x="822960" y="3063240"/>
            <a:ext cx="10515600" cy="2834640"/>
          </a:xfrm>
          <a:prstGeom prst="roundRect">
            <a:avLst>
              <a:gd name="adj" fmla="val 6000"/>
            </a:avLst>
          </a:prstGeom>
          <a:solidFill>
            <a:srgbClr val="2A22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3383280"/>
            <a:ext cx="2743200" cy="457200"/>
          </a:xfrm>
          <a:prstGeom prst="rect">
            <a:avLst/>
          </a:prstGeom>
          <a:noFill/>
        </p:spPr>
        <p:txBody>
          <a:bodyPr wrap="square" anchor="t" lIns="0" rIns="0" tIns="0" bIns="0">
            <a:spAutoFit/>
          </a:bodyPr>
          <a:lstStyle/>
          <a:p>
            <a:pPr algn="l">
              <a:lnSpc>
                <a:spcPct val="115000"/>
              </a:lnSpc>
            </a:pPr>
            <a:r>
              <a:rPr sz="1800" b="1" i="0">
                <a:solidFill>
                  <a:srgbClr val="EAAA00"/>
                </a:solidFill>
                <a:latin typeface="Cambria"/>
              </a:rPr>
              <a:t>Reality:</a:t>
            </a:r>
          </a:p>
        </p:txBody>
      </p:sp>
      <p:sp>
        <p:nvSpPr>
          <p:cNvPr id="6" name="TextBox 5"/>
          <p:cNvSpPr txBox="1"/>
          <p:nvPr/>
        </p:nvSpPr>
        <p:spPr>
          <a:xfrm>
            <a:off x="1188720" y="3840480"/>
            <a:ext cx="9784080" cy="1920240"/>
          </a:xfrm>
          <a:prstGeom prst="rect">
            <a:avLst/>
          </a:prstGeom>
          <a:noFill/>
        </p:spPr>
        <p:txBody>
          <a:bodyPr wrap="square" anchor="t" lIns="0" rIns="0" tIns="0" bIns="0">
            <a:spAutoFit/>
          </a:bodyPr>
          <a:lstStyle/>
          <a:p>
            <a:pPr algn="l">
              <a:lnSpc>
                <a:spcPct val="130000"/>
              </a:lnSpc>
            </a:pPr>
            <a:r>
              <a:rPr sz="1800" b="0" i="0">
                <a:solidFill>
                  <a:srgbClr val="FFFFFF"/>
                </a:solidFill>
                <a:latin typeface="Calibri"/>
              </a:rPr>
              <a:t>The tool isn't the ethical actor — the practitioner is. The Code of Ethics asks how you use it: with informed consent, without exposing client information, and never as a replacement for your own professional judgment.</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E3DCCE"/>
                </a:solidFill>
                <a:latin typeface="Calibri"/>
              </a:rPr>
              <a:t>CUSW 403 · Module 2 · Week 2</a:t>
            </a:r>
          </a:p>
        </p:txBody>
      </p:sp>
      <p:sp>
        <p:nvSpPr>
          <p:cNvPr id="8" name="TextBox 7"/>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E3DCC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B1512"/>
        </a:solidFill>
        <a:effectLst/>
      </p:bgPr>
    </p:bg>
    <p:spTree>
      <p:nvGrpSpPr>
        <p:cNvPr id="1" name=""/>
        <p:cNvGrpSpPr/>
        <p:nvPr/>
      </p:nvGrpSpPr>
      <p:grpSpPr/>
      <p:sp>
        <p:nvSpPr>
          <p:cNvPr id="2" name="TextBox 1"/>
          <p:cNvSpPr txBox="1"/>
          <p:nvPr/>
        </p:nvSpPr>
        <p:spPr>
          <a:xfrm>
            <a:off x="914400" y="2651760"/>
            <a:ext cx="10332720" cy="457200"/>
          </a:xfrm>
          <a:prstGeom prst="rect">
            <a:avLst/>
          </a:prstGeom>
          <a:noFill/>
        </p:spPr>
        <p:txBody>
          <a:bodyPr wrap="square" anchor="t" lIns="0" rIns="0" tIns="0" bIns="0">
            <a:spAutoFit/>
          </a:bodyPr>
          <a:lstStyle/>
          <a:p>
            <a:pPr algn="l">
              <a:lnSpc>
                <a:spcPct val="115000"/>
              </a:lnSpc>
            </a:pPr>
            <a:r>
              <a:rPr sz="1500" b="1" i="0">
                <a:solidFill>
                  <a:srgbClr val="EAAA00"/>
                </a:solidFill>
                <a:latin typeface="Calibri"/>
              </a:rPr>
              <a:t>PART 2</a:t>
            </a:r>
          </a:p>
        </p:txBody>
      </p:sp>
      <p:sp>
        <p:nvSpPr>
          <p:cNvPr id="3" name="TextBox 2"/>
          <p:cNvSpPr txBox="1"/>
          <p:nvPr/>
        </p:nvSpPr>
        <p:spPr>
          <a:xfrm>
            <a:off x="914400" y="3063240"/>
            <a:ext cx="10332720" cy="1463040"/>
          </a:xfrm>
          <a:prstGeom prst="rect">
            <a:avLst/>
          </a:prstGeom>
          <a:noFill/>
        </p:spPr>
        <p:txBody>
          <a:bodyPr wrap="square" anchor="t" lIns="0" rIns="0" tIns="0" bIns="0">
            <a:spAutoFit/>
          </a:bodyPr>
          <a:lstStyle/>
          <a:p>
            <a:pPr algn="l">
              <a:lnSpc>
                <a:spcPct val="115000"/>
              </a:lnSpc>
            </a:pPr>
            <a:r>
              <a:rPr sz="4200" b="1" i="0">
                <a:solidFill>
                  <a:srgbClr val="FFFFFF"/>
                </a:solidFill>
                <a:latin typeface="Cambria"/>
              </a:rPr>
              <a:t>NASW Code of Ethics &amp; Technology Standards</a:t>
            </a:r>
          </a:p>
        </p:txBody>
      </p:sp>
      <p:sp>
        <p:nvSpPr>
          <p:cNvPr id="4" name="TextBox 3"/>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E3DCCE"/>
                </a:solidFill>
                <a:latin typeface="Calibri"/>
              </a:rPr>
              <a:t>CUSW 403 · Module 2 · Week 2</a:t>
            </a:r>
          </a:p>
        </p:txBody>
      </p:sp>
      <p:sp>
        <p:nvSpPr>
          <p:cNvPr id="5" name="TextBox 4"/>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E3DCC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C8102E"/>
                </a:solidFill>
                <a:latin typeface="Calibri"/>
              </a:rPr>
              <a:t>THE FRAMEWORK</a:t>
            </a:r>
          </a:p>
        </p:txBody>
      </p:sp>
      <p:sp>
        <p:nvSpPr>
          <p:cNvPr id="3" name="TextBox 2"/>
          <p:cNvSpPr txBox="1"/>
          <p:nvPr/>
        </p:nvSpPr>
        <p:spPr>
          <a:xfrm>
            <a:off x="640080" y="685800"/>
            <a:ext cx="10058400" cy="822960"/>
          </a:xfrm>
          <a:prstGeom prst="rect">
            <a:avLst/>
          </a:prstGeom>
          <a:noFill/>
        </p:spPr>
        <p:txBody>
          <a:bodyPr wrap="square" anchor="t" lIns="0" rIns="0" tIns="0" bIns="0">
            <a:spAutoFit/>
          </a:bodyPr>
          <a:lstStyle/>
          <a:p>
            <a:pPr algn="l">
              <a:lnSpc>
                <a:spcPct val="115000"/>
              </a:lnSpc>
            </a:pPr>
            <a:r>
              <a:rPr sz="3400" b="1" i="0">
                <a:solidFill>
                  <a:srgbClr val="1B1512"/>
                </a:solidFill>
                <a:latin typeface="Cambria"/>
              </a:rPr>
              <a:t>What the Code Actually Requires</a:t>
            </a:r>
          </a:p>
        </p:txBody>
      </p:sp>
      <p:sp>
        <p:nvSpPr>
          <p:cNvPr id="4" name="TextBox 3"/>
          <p:cNvSpPr txBox="1"/>
          <p:nvPr/>
        </p:nvSpPr>
        <p:spPr>
          <a:xfrm>
            <a:off x="640080" y="1828800"/>
            <a:ext cx="10058400" cy="4023360"/>
          </a:xfrm>
          <a:prstGeom prst="rect">
            <a:avLst/>
          </a:prstGeom>
          <a:noFill/>
        </p:spPr>
        <p:txBody>
          <a:bodyPr wrap="square" anchor="t" lIns="0" rIns="0" tIns="0" bIns="0">
            <a:spAutoFit/>
          </a:bodyPr>
          <a:lstStyle/>
          <a:p>
            <a:pPr algn="l">
              <a:lnSpc>
                <a:spcPct val="135000"/>
              </a:lnSpc>
            </a:pPr>
            <a:r>
              <a:rPr sz="1900" b="0" i="0">
                <a:solidFill>
                  <a:srgbClr val="1B1512"/>
                </a:solidFill>
                <a:latin typeface="Calibri"/>
              </a:rPr>
              <a:t>The NASW Code of Ethics and its Technology Standards don't ban AI tools — they set conditions: informed consent when technology is used in service delivery, competence in the tools you use, and an unwavering duty of confidentiality that does not pause just because a tool is convenient.</a:t>
            </a:r>
          </a:p>
        </p:txBody>
      </p:sp>
      <p:sp>
        <p:nvSpPr>
          <p:cNvPr id="5" name="TextBox 4"/>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6B6259"/>
                </a:solidFill>
                <a:latin typeface="Calibri"/>
              </a:rPr>
              <a:t>CUSW 403 · Module 2 · Week 2</a:t>
            </a:r>
          </a:p>
        </p:txBody>
      </p:sp>
      <p:sp>
        <p:nvSpPr>
          <p:cNvPr id="6" name="TextBox 5"/>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6B6259"/>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C8102E"/>
                </a:solidFill>
                <a:latin typeface="Calibri"/>
              </a:rPr>
              <a:t>THE THREE PILLARS</a:t>
            </a:r>
          </a:p>
        </p:txBody>
      </p:sp>
      <p:sp>
        <p:nvSpPr>
          <p:cNvPr id="3" name="TextBox 2"/>
          <p:cNvSpPr txBox="1"/>
          <p:nvPr/>
        </p:nvSpPr>
        <p:spPr>
          <a:xfrm>
            <a:off x="640080" y="685800"/>
            <a:ext cx="10058400" cy="822960"/>
          </a:xfrm>
          <a:prstGeom prst="rect">
            <a:avLst/>
          </a:prstGeom>
          <a:noFill/>
        </p:spPr>
        <p:txBody>
          <a:bodyPr wrap="square" anchor="t" lIns="0" rIns="0" tIns="0" bIns="0">
            <a:spAutoFit/>
          </a:bodyPr>
          <a:lstStyle/>
          <a:p>
            <a:pPr algn="l">
              <a:lnSpc>
                <a:spcPct val="115000"/>
              </a:lnSpc>
            </a:pPr>
            <a:r>
              <a:rPr sz="3400" b="1" i="0">
                <a:solidFill>
                  <a:srgbClr val="1B1512"/>
                </a:solidFill>
                <a:latin typeface="Cambria"/>
              </a:rPr>
              <a:t>What You're Being Asked to Hold Together</a:t>
            </a:r>
          </a:p>
        </p:txBody>
      </p:sp>
      <p:sp>
        <p:nvSpPr>
          <p:cNvPr id="4" name="Rounded Rectangle 3"/>
          <p:cNvSpPr/>
          <p:nvPr/>
        </p:nvSpPr>
        <p:spPr>
          <a:xfrm>
            <a:off x="640080" y="1965960"/>
            <a:ext cx="3520440" cy="3749039"/>
          </a:xfrm>
          <a:prstGeom prst="roundRect">
            <a:avLst>
              <a:gd name="adj" fmla="val 5000"/>
            </a:avLst>
          </a:prstGeom>
          <a:solidFill>
            <a:srgbClr val="FFFFFF"/>
          </a:solidFill>
          <a:ln w="28575">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286000"/>
            <a:ext cx="2880360" cy="640080"/>
          </a:xfrm>
          <a:prstGeom prst="rect">
            <a:avLst/>
          </a:prstGeom>
          <a:noFill/>
        </p:spPr>
        <p:txBody>
          <a:bodyPr wrap="square" anchor="t" lIns="0" rIns="0" tIns="0" bIns="0">
            <a:spAutoFit/>
          </a:bodyPr>
          <a:lstStyle/>
          <a:p>
            <a:pPr algn="l">
              <a:lnSpc>
                <a:spcPct val="115000"/>
              </a:lnSpc>
            </a:pPr>
            <a:r>
              <a:rPr sz="2400" b="1" i="0">
                <a:solidFill>
                  <a:srgbClr val="C8102E"/>
                </a:solidFill>
                <a:latin typeface="Cambria"/>
              </a:rPr>
              <a:t>Confidentiality</a:t>
            </a:r>
          </a:p>
        </p:txBody>
      </p:sp>
      <p:sp>
        <p:nvSpPr>
          <p:cNvPr id="6" name="TextBox 5"/>
          <p:cNvSpPr txBox="1"/>
          <p:nvPr/>
        </p:nvSpPr>
        <p:spPr>
          <a:xfrm>
            <a:off x="960120" y="3017520"/>
            <a:ext cx="2880360" cy="2560320"/>
          </a:xfrm>
          <a:prstGeom prst="rect">
            <a:avLst/>
          </a:prstGeom>
          <a:noFill/>
        </p:spPr>
        <p:txBody>
          <a:bodyPr wrap="square" anchor="t" lIns="0" rIns="0" tIns="0" bIns="0">
            <a:spAutoFit/>
          </a:bodyPr>
          <a:lstStyle/>
          <a:p>
            <a:pPr algn="l">
              <a:lnSpc>
                <a:spcPct val="125000"/>
              </a:lnSpc>
            </a:pPr>
            <a:r>
              <a:rPr sz="1550" b="0" i="0">
                <a:solidFill>
                  <a:srgbClr val="1B1512"/>
                </a:solidFill>
                <a:latin typeface="Calibri"/>
              </a:rPr>
              <a:t>Never enter identifying client information into a public AI tool.</a:t>
            </a:r>
          </a:p>
        </p:txBody>
      </p:sp>
      <p:sp>
        <p:nvSpPr>
          <p:cNvPr id="7" name="Rounded Rectangle 6"/>
          <p:cNvSpPr/>
          <p:nvPr/>
        </p:nvSpPr>
        <p:spPr>
          <a:xfrm>
            <a:off x="4343400" y="1965960"/>
            <a:ext cx="3520440" cy="3749039"/>
          </a:xfrm>
          <a:prstGeom prst="roundRect">
            <a:avLst>
              <a:gd name="adj" fmla="val 5000"/>
            </a:avLst>
          </a:prstGeom>
          <a:solidFill>
            <a:srgbClr val="FFFFFF"/>
          </a:solidFill>
          <a:ln w="28575">
            <a:solidFill>
              <a:srgbClr val="8A6D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63440" y="2286000"/>
            <a:ext cx="2880360" cy="640080"/>
          </a:xfrm>
          <a:prstGeom prst="rect">
            <a:avLst/>
          </a:prstGeom>
          <a:noFill/>
        </p:spPr>
        <p:txBody>
          <a:bodyPr wrap="square" anchor="t" lIns="0" rIns="0" tIns="0" bIns="0">
            <a:spAutoFit/>
          </a:bodyPr>
          <a:lstStyle/>
          <a:p>
            <a:pPr algn="l">
              <a:lnSpc>
                <a:spcPct val="115000"/>
              </a:lnSpc>
            </a:pPr>
            <a:r>
              <a:rPr sz="2400" b="1" i="0">
                <a:solidFill>
                  <a:srgbClr val="8A6D18"/>
                </a:solidFill>
                <a:latin typeface="Cambria"/>
              </a:rPr>
              <a:t>Bias awareness</a:t>
            </a:r>
          </a:p>
        </p:txBody>
      </p:sp>
      <p:sp>
        <p:nvSpPr>
          <p:cNvPr id="9" name="TextBox 8"/>
          <p:cNvSpPr txBox="1"/>
          <p:nvPr/>
        </p:nvSpPr>
        <p:spPr>
          <a:xfrm>
            <a:off x="4663440" y="3017520"/>
            <a:ext cx="2880360" cy="2560320"/>
          </a:xfrm>
          <a:prstGeom prst="rect">
            <a:avLst/>
          </a:prstGeom>
          <a:noFill/>
        </p:spPr>
        <p:txBody>
          <a:bodyPr wrap="square" anchor="t" lIns="0" rIns="0" tIns="0" bIns="0">
            <a:spAutoFit/>
          </a:bodyPr>
          <a:lstStyle/>
          <a:p>
            <a:pPr algn="l">
              <a:lnSpc>
                <a:spcPct val="125000"/>
              </a:lnSpc>
            </a:pPr>
            <a:r>
              <a:rPr sz="1550" b="0" i="0">
                <a:solidFill>
                  <a:srgbClr val="1B1512"/>
                </a:solidFill>
                <a:latin typeface="Calibri"/>
              </a:rPr>
              <a:t>Treat AI output as a draft to scrutinize, not a verdict to accept.</a:t>
            </a:r>
          </a:p>
        </p:txBody>
      </p:sp>
      <p:sp>
        <p:nvSpPr>
          <p:cNvPr id="10" name="Rounded Rectangle 9"/>
          <p:cNvSpPr/>
          <p:nvPr/>
        </p:nvSpPr>
        <p:spPr>
          <a:xfrm>
            <a:off x="8046720" y="1965960"/>
            <a:ext cx="3520440" cy="3749039"/>
          </a:xfrm>
          <a:prstGeom prst="roundRect">
            <a:avLst>
              <a:gd name="adj" fmla="val 5000"/>
            </a:avLst>
          </a:prstGeom>
          <a:solidFill>
            <a:srgbClr val="FFFFFF"/>
          </a:solidFill>
          <a:ln w="28575">
            <a:solidFill>
              <a:srgbClr val="6B62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66760" y="2286000"/>
            <a:ext cx="2880360" cy="640080"/>
          </a:xfrm>
          <a:prstGeom prst="rect">
            <a:avLst/>
          </a:prstGeom>
          <a:noFill/>
        </p:spPr>
        <p:txBody>
          <a:bodyPr wrap="square" anchor="t" lIns="0" rIns="0" tIns="0" bIns="0">
            <a:spAutoFit/>
          </a:bodyPr>
          <a:lstStyle/>
          <a:p>
            <a:pPr algn="l">
              <a:lnSpc>
                <a:spcPct val="115000"/>
              </a:lnSpc>
            </a:pPr>
            <a:r>
              <a:rPr sz="2400" b="1" i="0">
                <a:solidFill>
                  <a:srgbClr val="6B6259"/>
                </a:solidFill>
                <a:latin typeface="Cambria"/>
              </a:rPr>
              <a:t>Client trust</a:t>
            </a:r>
          </a:p>
        </p:txBody>
      </p:sp>
      <p:sp>
        <p:nvSpPr>
          <p:cNvPr id="12" name="TextBox 11"/>
          <p:cNvSpPr txBox="1"/>
          <p:nvPr/>
        </p:nvSpPr>
        <p:spPr>
          <a:xfrm>
            <a:off x="8366760" y="3017520"/>
            <a:ext cx="2880360" cy="2560320"/>
          </a:xfrm>
          <a:prstGeom prst="rect">
            <a:avLst/>
          </a:prstGeom>
          <a:noFill/>
        </p:spPr>
        <p:txBody>
          <a:bodyPr wrap="square" anchor="t" lIns="0" rIns="0" tIns="0" bIns="0">
            <a:spAutoFit/>
          </a:bodyPr>
          <a:lstStyle/>
          <a:p>
            <a:pPr algn="l">
              <a:lnSpc>
                <a:spcPct val="125000"/>
              </a:lnSpc>
            </a:pPr>
            <a:r>
              <a:rPr sz="1550" b="0" i="0">
                <a:solidFill>
                  <a:srgbClr val="1B1512"/>
                </a:solidFill>
                <a:latin typeface="Calibri"/>
              </a:rPr>
              <a:t>Disclose AI use where it touches service delivery — don't let it become invisible.</a:t>
            </a:r>
          </a:p>
        </p:txBody>
      </p:sp>
      <p:sp>
        <p:nvSpPr>
          <p:cNvPr id="13" name="TextBox 12"/>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6B6259"/>
                </a:solidFill>
                <a:latin typeface="Calibri"/>
              </a:rPr>
              <a:t>CUSW 403 · Module 2 · Week 2</a:t>
            </a:r>
          </a:p>
        </p:txBody>
      </p:sp>
      <p:sp>
        <p:nvSpPr>
          <p:cNvPr id="14" name="TextBox 13"/>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6B6259"/>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B1512"/>
        </a:solidFill>
        <a:effectLst/>
      </p:bgPr>
    </p:bg>
    <p:spTree>
      <p:nvGrpSpPr>
        <p:cNvPr id="1" name=""/>
        <p:cNvGrpSpPr/>
        <p:nvPr/>
      </p:nvGrpSpPr>
      <p:grpSpPr/>
      <p:sp>
        <p:nvSpPr>
          <p:cNvPr id="2" name="TextBox 1"/>
          <p:cNvSpPr txBox="1"/>
          <p:nvPr/>
        </p:nvSpPr>
        <p:spPr>
          <a:xfrm>
            <a:off x="914400" y="2651760"/>
            <a:ext cx="10332720" cy="457200"/>
          </a:xfrm>
          <a:prstGeom prst="rect">
            <a:avLst/>
          </a:prstGeom>
          <a:noFill/>
        </p:spPr>
        <p:txBody>
          <a:bodyPr wrap="square" anchor="t" lIns="0" rIns="0" tIns="0" bIns="0">
            <a:spAutoFit/>
          </a:bodyPr>
          <a:lstStyle/>
          <a:p>
            <a:pPr algn="l">
              <a:lnSpc>
                <a:spcPct val="115000"/>
              </a:lnSpc>
            </a:pPr>
            <a:r>
              <a:rPr sz="1500" b="1" i="0">
                <a:solidFill>
                  <a:srgbClr val="EAAA00"/>
                </a:solidFill>
                <a:latin typeface="Calibri"/>
              </a:rPr>
              <a:t>PART 3</a:t>
            </a:r>
          </a:p>
        </p:txBody>
      </p:sp>
      <p:sp>
        <p:nvSpPr>
          <p:cNvPr id="3" name="TextBox 2"/>
          <p:cNvSpPr txBox="1"/>
          <p:nvPr/>
        </p:nvSpPr>
        <p:spPr>
          <a:xfrm>
            <a:off x="914400" y="3063240"/>
            <a:ext cx="10332720" cy="1463040"/>
          </a:xfrm>
          <a:prstGeom prst="rect">
            <a:avLst/>
          </a:prstGeom>
          <a:noFill/>
        </p:spPr>
        <p:txBody>
          <a:bodyPr wrap="square" anchor="t" lIns="0" rIns="0" tIns="0" bIns="0">
            <a:spAutoFit/>
          </a:bodyPr>
          <a:lstStyle/>
          <a:p>
            <a:pPr algn="l">
              <a:lnSpc>
                <a:spcPct val="115000"/>
              </a:lnSpc>
            </a:pPr>
            <a:r>
              <a:rPr sz="4200" b="1" i="0">
                <a:solidFill>
                  <a:srgbClr val="FFFFFF"/>
                </a:solidFill>
                <a:latin typeface="Cambria"/>
              </a:rPr>
              <a:t>Meet Your Practice Coach</a:t>
            </a:r>
          </a:p>
        </p:txBody>
      </p:sp>
      <p:sp>
        <p:nvSpPr>
          <p:cNvPr id="4" name="TextBox 3"/>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E3DCCE"/>
                </a:solidFill>
                <a:latin typeface="Calibri"/>
              </a:rPr>
              <a:t>CUSW 403 · Module 2 · Week 2</a:t>
            </a:r>
          </a:p>
        </p:txBody>
      </p:sp>
      <p:sp>
        <p:nvSpPr>
          <p:cNvPr id="5" name="TextBox 4"/>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E3DCC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B1512"/>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EAAA00"/>
                </a:solidFill>
                <a:latin typeface="Calibri"/>
              </a:rPr>
              <a:t>YOUR AI ASSISTANT THIS SEMESTER</a:t>
            </a:r>
          </a:p>
        </p:txBody>
      </p:sp>
      <p:sp>
        <p:nvSpPr>
          <p:cNvPr id="3" name="TextBox 2"/>
          <p:cNvSpPr txBox="1"/>
          <p:nvPr/>
        </p:nvSpPr>
        <p:spPr>
          <a:xfrm>
            <a:off x="640080" y="685800"/>
            <a:ext cx="10058400" cy="822960"/>
          </a:xfrm>
          <a:prstGeom prst="rect">
            <a:avLst/>
          </a:prstGeom>
          <a:noFill/>
        </p:spPr>
        <p:txBody>
          <a:bodyPr wrap="square" anchor="t" lIns="0" rIns="0" tIns="0" bIns="0">
            <a:spAutoFit/>
          </a:bodyPr>
          <a:lstStyle/>
          <a:p>
            <a:pPr algn="l">
              <a:lnSpc>
                <a:spcPct val="115000"/>
              </a:lnSpc>
            </a:pPr>
            <a:r>
              <a:rPr sz="3400" b="1" i="0">
                <a:solidFill>
                  <a:srgbClr val="FFFFFF"/>
                </a:solidFill>
                <a:latin typeface="Cambria"/>
              </a:rPr>
              <a:t>Meet Your Practice Coach</a:t>
            </a:r>
          </a:p>
        </p:txBody>
      </p:sp>
      <p:sp>
        <p:nvSpPr>
          <p:cNvPr id="4" name="Rounded Rectangle 3"/>
          <p:cNvSpPr/>
          <p:nvPr/>
        </p:nvSpPr>
        <p:spPr>
          <a:xfrm>
            <a:off x="640080" y="2377440"/>
            <a:ext cx="10698480" cy="3291840"/>
          </a:xfrm>
          <a:prstGeom prst="roundRect">
            <a:avLst>
              <a:gd name="adj" fmla="val 4000"/>
            </a:avLst>
          </a:prstGeom>
          <a:solidFill>
            <a:srgbClr val="2A22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2697480"/>
            <a:ext cx="10058400" cy="548640"/>
          </a:xfrm>
          <a:prstGeom prst="rect">
            <a:avLst/>
          </a:prstGeom>
          <a:noFill/>
        </p:spPr>
        <p:txBody>
          <a:bodyPr wrap="square" anchor="t" lIns="0" rIns="0" tIns="0" bIns="0">
            <a:spAutoFit/>
          </a:bodyPr>
          <a:lstStyle/>
          <a:p>
            <a:pPr algn="l">
              <a:lnSpc>
                <a:spcPct val="115000"/>
              </a:lnSpc>
            </a:pPr>
            <a:r>
              <a:rPr sz="2200" b="1" i="0">
                <a:solidFill>
                  <a:srgbClr val="EAAA00"/>
                </a:solidFill>
                <a:latin typeface="Cambria"/>
              </a:rPr>
              <a:t>Coach, not ghostwriter.</a:t>
            </a:r>
          </a:p>
        </p:txBody>
      </p:sp>
      <p:sp>
        <p:nvSpPr>
          <p:cNvPr id="6" name="TextBox 5"/>
          <p:cNvSpPr txBox="1"/>
          <p:nvPr/>
        </p:nvSpPr>
        <p:spPr>
          <a:xfrm>
            <a:off x="1051560" y="3337560"/>
            <a:ext cx="9875520" cy="2103120"/>
          </a:xfrm>
          <a:prstGeom prst="rect">
            <a:avLst/>
          </a:prstGeom>
          <a:noFill/>
        </p:spPr>
        <p:txBody>
          <a:bodyPr wrap="square" anchor="t" lIns="0" rIns="0" tIns="0" bIns="0">
            <a:spAutoFit/>
          </a:bodyPr>
          <a:lstStyle/>
          <a:p>
            <a:pPr algn="l">
              <a:lnSpc>
                <a:spcPct val="130000"/>
              </a:lnSpc>
            </a:pPr>
            <a:r>
              <a:rPr sz="1800" b="0" i="0">
                <a:solidFill>
                  <a:srgbClr val="FFFFFF"/>
                </a:solidFill>
                <a:latin typeface="Calibri"/>
              </a:rPr>
              <a:t>It gives feedback, asks coaching questions, and points you to rubric criteria. It never drafts text you submit as your own work — including this week's own AI Ethics Reflection.</a:t>
            </a:r>
          </a:p>
        </p:txBody>
      </p:sp>
      <p:sp>
        <p:nvSpPr>
          <p:cNvPr id="7" name="TextBox 6"/>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E3DCCE"/>
                </a:solidFill>
                <a:latin typeface="Calibri"/>
              </a:rPr>
              <a:t>CUSW 403 · Module 2 · Week 2</a:t>
            </a:r>
          </a:p>
        </p:txBody>
      </p:sp>
      <p:sp>
        <p:nvSpPr>
          <p:cNvPr id="8" name="TextBox 7"/>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E3DCC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C8102E"/>
                </a:solidFill>
                <a:latin typeface="Calibri"/>
              </a:rPr>
              <a:t>HOW IT WORKS</a:t>
            </a:r>
          </a:p>
        </p:txBody>
      </p:sp>
      <p:sp>
        <p:nvSpPr>
          <p:cNvPr id="3" name="TextBox 2"/>
          <p:cNvSpPr txBox="1"/>
          <p:nvPr/>
        </p:nvSpPr>
        <p:spPr>
          <a:xfrm>
            <a:off x="640080" y="685800"/>
            <a:ext cx="10058400" cy="822960"/>
          </a:xfrm>
          <a:prstGeom prst="rect">
            <a:avLst/>
          </a:prstGeom>
          <a:noFill/>
        </p:spPr>
        <p:txBody>
          <a:bodyPr wrap="square" anchor="t" lIns="0" rIns="0" tIns="0" bIns="0">
            <a:spAutoFit/>
          </a:bodyPr>
          <a:lstStyle/>
          <a:p>
            <a:pPr algn="l">
              <a:lnSpc>
                <a:spcPct val="115000"/>
              </a:lnSpc>
            </a:pPr>
            <a:r>
              <a:rPr sz="3400" b="1" i="0">
                <a:solidFill>
                  <a:srgbClr val="1B1512"/>
                </a:solidFill>
                <a:latin typeface="Cambria"/>
              </a:rPr>
              <a:t>What It Will and Won't Do</a:t>
            </a:r>
          </a:p>
        </p:txBody>
      </p:sp>
      <p:sp>
        <p:nvSpPr>
          <p:cNvPr id="4" name="Oval 3"/>
          <p:cNvSpPr/>
          <p:nvPr/>
        </p:nvSpPr>
        <p:spPr>
          <a:xfrm>
            <a:off x="640080" y="1828800"/>
            <a:ext cx="640080" cy="64008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a:solidFill>
                  <a:srgbClr val="FFFFFF"/>
                </a:solidFill>
                <a:latin typeface="Cambria"/>
              </a:rPr>
              <a:t>1</a:t>
            </a:r>
          </a:p>
        </p:txBody>
      </p:sp>
      <p:sp>
        <p:nvSpPr>
          <p:cNvPr id="5" name="TextBox 4"/>
          <p:cNvSpPr txBox="1"/>
          <p:nvPr/>
        </p:nvSpPr>
        <p:spPr>
          <a:xfrm>
            <a:off x="1600200" y="1801368"/>
            <a:ext cx="9144000" cy="457200"/>
          </a:xfrm>
          <a:prstGeom prst="rect">
            <a:avLst/>
          </a:prstGeom>
          <a:noFill/>
        </p:spPr>
        <p:txBody>
          <a:bodyPr wrap="square" anchor="t" lIns="0" rIns="0" tIns="0" bIns="0">
            <a:spAutoFit/>
          </a:bodyPr>
          <a:lstStyle/>
          <a:p>
            <a:pPr algn="l">
              <a:lnSpc>
                <a:spcPct val="115000"/>
              </a:lnSpc>
            </a:pPr>
            <a:r>
              <a:rPr sz="1800" b="1" i="0">
                <a:solidFill>
                  <a:srgbClr val="1B1512"/>
                </a:solidFill>
                <a:latin typeface="Cambria"/>
              </a:rPr>
              <a:t>Will: ask questions</a:t>
            </a:r>
          </a:p>
        </p:txBody>
      </p:sp>
      <p:sp>
        <p:nvSpPr>
          <p:cNvPr id="6" name="TextBox 5"/>
          <p:cNvSpPr txBox="1"/>
          <p:nvPr/>
        </p:nvSpPr>
        <p:spPr>
          <a:xfrm>
            <a:off x="1600200" y="2267712"/>
            <a:ext cx="9326880" cy="662940"/>
          </a:xfrm>
          <a:prstGeom prst="rect">
            <a:avLst/>
          </a:prstGeom>
          <a:noFill/>
        </p:spPr>
        <p:txBody>
          <a:bodyPr wrap="square" anchor="t" lIns="0" rIns="0" tIns="0" bIns="0">
            <a:spAutoFit/>
          </a:bodyPr>
          <a:lstStyle/>
          <a:p>
            <a:pPr algn="l">
              <a:lnSpc>
                <a:spcPct val="120000"/>
              </a:lnSpc>
            </a:pPr>
            <a:r>
              <a:rPr sz="1450" b="0" i="0">
                <a:solidFill>
                  <a:srgbClr val="6B6259"/>
                </a:solidFill>
                <a:latin typeface="Calibri"/>
              </a:rPr>
              <a:t>Helps you think through a prompt, a rubric, or a stuck point in your own words.</a:t>
            </a:r>
          </a:p>
        </p:txBody>
      </p:sp>
      <p:sp>
        <p:nvSpPr>
          <p:cNvPr id="7" name="Oval 6"/>
          <p:cNvSpPr/>
          <p:nvPr/>
        </p:nvSpPr>
        <p:spPr>
          <a:xfrm>
            <a:off x="640080" y="2948940"/>
            <a:ext cx="640080" cy="64008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a:solidFill>
                  <a:srgbClr val="FFFFFF"/>
                </a:solidFill>
                <a:latin typeface="Cambria"/>
              </a:rPr>
              <a:t>2</a:t>
            </a:r>
          </a:p>
        </p:txBody>
      </p:sp>
      <p:sp>
        <p:nvSpPr>
          <p:cNvPr id="8" name="TextBox 7"/>
          <p:cNvSpPr txBox="1"/>
          <p:nvPr/>
        </p:nvSpPr>
        <p:spPr>
          <a:xfrm>
            <a:off x="1600200" y="2921508"/>
            <a:ext cx="9144000" cy="457200"/>
          </a:xfrm>
          <a:prstGeom prst="rect">
            <a:avLst/>
          </a:prstGeom>
          <a:noFill/>
        </p:spPr>
        <p:txBody>
          <a:bodyPr wrap="square" anchor="t" lIns="0" rIns="0" tIns="0" bIns="0">
            <a:spAutoFit/>
          </a:bodyPr>
          <a:lstStyle/>
          <a:p>
            <a:pPr algn="l">
              <a:lnSpc>
                <a:spcPct val="115000"/>
              </a:lnSpc>
            </a:pPr>
            <a:r>
              <a:rPr sz="1800" b="1" i="0">
                <a:solidFill>
                  <a:srgbClr val="1B1512"/>
                </a:solidFill>
                <a:latin typeface="Cambria"/>
              </a:rPr>
              <a:t>Will: point to criteria</a:t>
            </a:r>
          </a:p>
        </p:txBody>
      </p:sp>
      <p:sp>
        <p:nvSpPr>
          <p:cNvPr id="9" name="TextBox 8"/>
          <p:cNvSpPr txBox="1"/>
          <p:nvPr/>
        </p:nvSpPr>
        <p:spPr>
          <a:xfrm>
            <a:off x="1600200" y="3387852"/>
            <a:ext cx="9326880" cy="662940"/>
          </a:xfrm>
          <a:prstGeom prst="rect">
            <a:avLst/>
          </a:prstGeom>
          <a:noFill/>
        </p:spPr>
        <p:txBody>
          <a:bodyPr wrap="square" anchor="t" lIns="0" rIns="0" tIns="0" bIns="0">
            <a:spAutoFit/>
          </a:bodyPr>
          <a:lstStyle/>
          <a:p>
            <a:pPr algn="l">
              <a:lnSpc>
                <a:spcPct val="120000"/>
              </a:lnSpc>
            </a:pPr>
            <a:r>
              <a:rPr sz="1450" b="0" i="0">
                <a:solidFill>
                  <a:srgbClr val="6B6259"/>
                </a:solidFill>
                <a:latin typeface="Calibri"/>
              </a:rPr>
              <a:t>Flags which rubric line an idea speaks to, so you can strengthen it yourself.</a:t>
            </a:r>
          </a:p>
        </p:txBody>
      </p:sp>
      <p:sp>
        <p:nvSpPr>
          <p:cNvPr id="10" name="Oval 9"/>
          <p:cNvSpPr/>
          <p:nvPr/>
        </p:nvSpPr>
        <p:spPr>
          <a:xfrm>
            <a:off x="640080" y="4069080"/>
            <a:ext cx="640080" cy="64008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a:solidFill>
                  <a:srgbClr val="FFFFFF"/>
                </a:solidFill>
                <a:latin typeface="Cambria"/>
              </a:rPr>
              <a:t>3</a:t>
            </a:r>
          </a:p>
        </p:txBody>
      </p:sp>
      <p:sp>
        <p:nvSpPr>
          <p:cNvPr id="11" name="TextBox 10"/>
          <p:cNvSpPr txBox="1"/>
          <p:nvPr/>
        </p:nvSpPr>
        <p:spPr>
          <a:xfrm>
            <a:off x="1600200" y="4041648"/>
            <a:ext cx="9144000" cy="457200"/>
          </a:xfrm>
          <a:prstGeom prst="rect">
            <a:avLst/>
          </a:prstGeom>
          <a:noFill/>
        </p:spPr>
        <p:txBody>
          <a:bodyPr wrap="square" anchor="t" lIns="0" rIns="0" tIns="0" bIns="0">
            <a:spAutoFit/>
          </a:bodyPr>
          <a:lstStyle/>
          <a:p>
            <a:pPr algn="l">
              <a:lnSpc>
                <a:spcPct val="115000"/>
              </a:lnSpc>
            </a:pPr>
            <a:r>
              <a:rPr sz="1800" b="1" i="0">
                <a:solidFill>
                  <a:srgbClr val="1B1512"/>
                </a:solidFill>
                <a:latin typeface="Cambria"/>
              </a:rPr>
              <a:t>Won't: draft your submission</a:t>
            </a:r>
          </a:p>
        </p:txBody>
      </p:sp>
      <p:sp>
        <p:nvSpPr>
          <p:cNvPr id="12" name="TextBox 11"/>
          <p:cNvSpPr txBox="1"/>
          <p:nvPr/>
        </p:nvSpPr>
        <p:spPr>
          <a:xfrm>
            <a:off x="1600200" y="4507992"/>
            <a:ext cx="9326880" cy="662940"/>
          </a:xfrm>
          <a:prstGeom prst="rect">
            <a:avLst/>
          </a:prstGeom>
          <a:noFill/>
        </p:spPr>
        <p:txBody>
          <a:bodyPr wrap="square" anchor="t" lIns="0" rIns="0" tIns="0" bIns="0">
            <a:spAutoFit/>
          </a:bodyPr>
          <a:lstStyle/>
          <a:p>
            <a:pPr algn="l">
              <a:lnSpc>
                <a:spcPct val="120000"/>
              </a:lnSpc>
            </a:pPr>
            <a:r>
              <a:rPr sz="1450" b="0" i="0">
                <a:solidFill>
                  <a:srgbClr val="6B6259"/>
                </a:solidFill>
                <a:latin typeface="Calibri"/>
              </a:rPr>
              <a:t>Never writes the reflection, case analysis, or any graded text for you.</a:t>
            </a:r>
          </a:p>
        </p:txBody>
      </p:sp>
      <p:sp>
        <p:nvSpPr>
          <p:cNvPr id="13" name="Oval 12"/>
          <p:cNvSpPr/>
          <p:nvPr/>
        </p:nvSpPr>
        <p:spPr>
          <a:xfrm>
            <a:off x="640080" y="5189220"/>
            <a:ext cx="640080" cy="640080"/>
          </a:xfrm>
          <a:prstGeom prst="ellipse">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a:solidFill>
                  <a:srgbClr val="FFFFFF"/>
                </a:solidFill>
                <a:latin typeface="Cambria"/>
              </a:rPr>
              <a:t>4</a:t>
            </a:r>
          </a:p>
        </p:txBody>
      </p:sp>
      <p:sp>
        <p:nvSpPr>
          <p:cNvPr id="14" name="TextBox 13"/>
          <p:cNvSpPr txBox="1"/>
          <p:nvPr/>
        </p:nvSpPr>
        <p:spPr>
          <a:xfrm>
            <a:off x="1600200" y="5161788"/>
            <a:ext cx="9144000" cy="457200"/>
          </a:xfrm>
          <a:prstGeom prst="rect">
            <a:avLst/>
          </a:prstGeom>
          <a:noFill/>
        </p:spPr>
        <p:txBody>
          <a:bodyPr wrap="square" anchor="t" lIns="0" rIns="0" tIns="0" bIns="0">
            <a:spAutoFit/>
          </a:bodyPr>
          <a:lstStyle/>
          <a:p>
            <a:pPr algn="l">
              <a:lnSpc>
                <a:spcPct val="115000"/>
              </a:lnSpc>
            </a:pPr>
            <a:r>
              <a:rPr sz="1800" b="1" i="0">
                <a:solidFill>
                  <a:srgbClr val="1B1512"/>
                </a:solidFill>
                <a:latin typeface="Cambria"/>
              </a:rPr>
              <a:t>Won't: hold case detail</a:t>
            </a:r>
          </a:p>
        </p:txBody>
      </p:sp>
      <p:sp>
        <p:nvSpPr>
          <p:cNvPr id="15" name="TextBox 14"/>
          <p:cNvSpPr txBox="1"/>
          <p:nvPr/>
        </p:nvSpPr>
        <p:spPr>
          <a:xfrm>
            <a:off x="1600200" y="5628132"/>
            <a:ext cx="9326880" cy="662940"/>
          </a:xfrm>
          <a:prstGeom prst="rect">
            <a:avLst/>
          </a:prstGeom>
          <a:noFill/>
        </p:spPr>
        <p:txBody>
          <a:bodyPr wrap="square" anchor="t" lIns="0" rIns="0" tIns="0" bIns="0">
            <a:spAutoFit/>
          </a:bodyPr>
          <a:lstStyle/>
          <a:p>
            <a:pPr algn="l">
              <a:lnSpc>
                <a:spcPct val="120000"/>
              </a:lnSpc>
            </a:pPr>
            <a:r>
              <a:rPr sz="1450" b="0" i="0">
                <a:solidFill>
                  <a:srgbClr val="6B6259"/>
                </a:solidFill>
                <a:latin typeface="Calibri"/>
              </a:rPr>
              <a:t>Confidential per its own design — it is not a place to paste real client information either.</a:t>
            </a:r>
          </a:p>
        </p:txBody>
      </p:sp>
      <p:sp>
        <p:nvSpPr>
          <p:cNvPr id="16" name="TextBox 15"/>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6B6259"/>
                </a:solidFill>
                <a:latin typeface="Calibri"/>
              </a:rPr>
              <a:t>CUSW 403 · Module 2 · Week 2</a:t>
            </a:r>
          </a:p>
        </p:txBody>
      </p:sp>
      <p:sp>
        <p:nvSpPr>
          <p:cNvPr id="17" name="TextBox 16"/>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6B6259"/>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C8102E"/>
                </a:solidFill>
                <a:latin typeface="Calibri"/>
              </a:rPr>
              <a:t>A WORKING EXAMPLE</a:t>
            </a:r>
          </a:p>
        </p:txBody>
      </p:sp>
      <p:sp>
        <p:nvSpPr>
          <p:cNvPr id="3" name="TextBox 2"/>
          <p:cNvSpPr txBox="1"/>
          <p:nvPr/>
        </p:nvSpPr>
        <p:spPr>
          <a:xfrm>
            <a:off x="640080" y="685800"/>
            <a:ext cx="10058400" cy="822960"/>
          </a:xfrm>
          <a:prstGeom prst="rect">
            <a:avLst/>
          </a:prstGeom>
          <a:noFill/>
        </p:spPr>
        <p:txBody>
          <a:bodyPr wrap="square" anchor="t" lIns="0" rIns="0" tIns="0" bIns="0">
            <a:spAutoFit/>
          </a:bodyPr>
          <a:lstStyle/>
          <a:p>
            <a:pPr algn="l">
              <a:lnSpc>
                <a:spcPct val="115000"/>
              </a:lnSpc>
            </a:pPr>
            <a:r>
              <a:rPr sz="3400" b="1" i="0">
                <a:solidFill>
                  <a:srgbClr val="1B1512"/>
                </a:solidFill>
                <a:latin typeface="Cambria"/>
              </a:rPr>
              <a:t>Same Tool, Two Very Different Uses</a:t>
            </a:r>
          </a:p>
        </p:txBody>
      </p:sp>
      <p:sp>
        <p:nvSpPr>
          <p:cNvPr id="4" name="Rounded Rectangle 3"/>
          <p:cNvSpPr/>
          <p:nvPr/>
        </p:nvSpPr>
        <p:spPr>
          <a:xfrm>
            <a:off x="640080" y="1828800"/>
            <a:ext cx="5120640" cy="3291840"/>
          </a:xfrm>
          <a:prstGeom prst="roundRect">
            <a:avLst>
              <a:gd name="adj" fmla="val 5000"/>
            </a:avLst>
          </a:prstGeom>
          <a:solidFill>
            <a:srgbClr val="FFFFFF"/>
          </a:solidFill>
          <a:ln w="254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2103120"/>
            <a:ext cx="4389120" cy="365760"/>
          </a:xfrm>
          <a:prstGeom prst="rect">
            <a:avLst/>
          </a:prstGeom>
          <a:noFill/>
        </p:spPr>
        <p:txBody>
          <a:bodyPr wrap="square" anchor="t" lIns="0" rIns="0" tIns="0" bIns="0">
            <a:spAutoFit/>
          </a:bodyPr>
          <a:lstStyle/>
          <a:p>
            <a:pPr algn="l">
              <a:lnSpc>
                <a:spcPct val="115000"/>
              </a:lnSpc>
            </a:pPr>
            <a:r>
              <a:rPr sz="1300" b="1" i="0">
                <a:solidFill>
                  <a:srgbClr val="C8102E"/>
                </a:solidFill>
                <a:latin typeface="Calibri"/>
              </a:rPr>
              <a:t>CASE DOCUMENTATION</a:t>
            </a:r>
          </a:p>
        </p:txBody>
      </p:sp>
      <p:sp>
        <p:nvSpPr>
          <p:cNvPr id="6" name="TextBox 5"/>
          <p:cNvSpPr txBox="1"/>
          <p:nvPr/>
        </p:nvSpPr>
        <p:spPr>
          <a:xfrm>
            <a:off x="960120" y="2514600"/>
            <a:ext cx="4480560" cy="914400"/>
          </a:xfrm>
          <a:prstGeom prst="rect">
            <a:avLst/>
          </a:prstGeom>
          <a:noFill/>
        </p:spPr>
        <p:txBody>
          <a:bodyPr wrap="square" anchor="t" lIns="0" rIns="0" tIns="0" bIns="0">
            <a:spAutoFit/>
          </a:bodyPr>
          <a:lstStyle/>
          <a:p>
            <a:pPr algn="l">
              <a:lnSpc>
                <a:spcPct val="115000"/>
              </a:lnSpc>
            </a:pPr>
            <a:r>
              <a:rPr sz="2000" b="1" i="0">
                <a:solidFill>
                  <a:srgbClr val="1B1512"/>
                </a:solidFill>
                <a:latin typeface="Cambria"/>
              </a:rPr>
              <a:t>Appropriate use</a:t>
            </a:r>
          </a:p>
        </p:txBody>
      </p:sp>
      <p:sp>
        <p:nvSpPr>
          <p:cNvPr id="7" name="TextBox 6"/>
          <p:cNvSpPr txBox="1"/>
          <p:nvPr/>
        </p:nvSpPr>
        <p:spPr>
          <a:xfrm>
            <a:off x="960120" y="3429000"/>
            <a:ext cx="4480560" cy="1463040"/>
          </a:xfrm>
          <a:prstGeom prst="rect">
            <a:avLst/>
          </a:prstGeom>
          <a:noFill/>
        </p:spPr>
        <p:txBody>
          <a:bodyPr wrap="square" anchor="t" lIns="0" rIns="0" tIns="0" bIns="0">
            <a:spAutoFit/>
          </a:bodyPr>
          <a:lstStyle/>
          <a:p>
            <a:pPr algn="l">
              <a:lnSpc>
                <a:spcPct val="125000"/>
              </a:lnSpc>
            </a:pPr>
            <a:r>
              <a:rPr sz="1450" b="0" i="0">
                <a:solidFill>
                  <a:srgbClr val="6B6259"/>
                </a:solidFill>
                <a:latin typeface="Calibri"/>
              </a:rPr>
              <a:t>A practitioner uses an AI tool to help structure a case note from their own de-identified summary, then reviews and finalizes every word themselves.</a:t>
            </a:r>
          </a:p>
        </p:txBody>
      </p:sp>
      <p:sp>
        <p:nvSpPr>
          <p:cNvPr id="8" name="Rounded Rectangle 7"/>
          <p:cNvSpPr/>
          <p:nvPr/>
        </p:nvSpPr>
        <p:spPr>
          <a:xfrm>
            <a:off x="6126480" y="1828800"/>
            <a:ext cx="5120640" cy="3291840"/>
          </a:xfrm>
          <a:prstGeom prst="roundRect">
            <a:avLst>
              <a:gd name="adj" fmla="val 5000"/>
            </a:avLst>
          </a:prstGeom>
          <a:solidFill>
            <a:srgbClr val="FFFFFF"/>
          </a:solidFill>
          <a:ln w="25400">
            <a:solidFill>
              <a:srgbClr val="C810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2103120"/>
            <a:ext cx="4389120" cy="365760"/>
          </a:xfrm>
          <a:prstGeom prst="rect">
            <a:avLst/>
          </a:prstGeom>
          <a:noFill/>
        </p:spPr>
        <p:txBody>
          <a:bodyPr wrap="square" anchor="t" lIns="0" rIns="0" tIns="0" bIns="0">
            <a:spAutoFit/>
          </a:bodyPr>
          <a:lstStyle/>
          <a:p>
            <a:pPr algn="l">
              <a:lnSpc>
                <a:spcPct val="115000"/>
              </a:lnSpc>
            </a:pPr>
            <a:r>
              <a:rPr sz="1300" b="1" i="0">
                <a:solidFill>
                  <a:srgbClr val="C8102E"/>
                </a:solidFill>
                <a:latin typeface="Calibri"/>
              </a:rPr>
              <a:t>CASE DOCUMENTATION</a:t>
            </a:r>
          </a:p>
        </p:txBody>
      </p:sp>
      <p:sp>
        <p:nvSpPr>
          <p:cNvPr id="10" name="TextBox 9"/>
          <p:cNvSpPr txBox="1"/>
          <p:nvPr/>
        </p:nvSpPr>
        <p:spPr>
          <a:xfrm>
            <a:off x="6446520" y="2514600"/>
            <a:ext cx="4480560" cy="914400"/>
          </a:xfrm>
          <a:prstGeom prst="rect">
            <a:avLst/>
          </a:prstGeom>
          <a:noFill/>
        </p:spPr>
        <p:txBody>
          <a:bodyPr wrap="square" anchor="t" lIns="0" rIns="0" tIns="0" bIns="0">
            <a:spAutoFit/>
          </a:bodyPr>
          <a:lstStyle/>
          <a:p>
            <a:pPr algn="l">
              <a:lnSpc>
                <a:spcPct val="115000"/>
              </a:lnSpc>
            </a:pPr>
            <a:r>
              <a:rPr sz="2000" b="1" i="0">
                <a:solidFill>
                  <a:srgbClr val="1B1512"/>
                </a:solidFill>
                <a:latin typeface="Cambria"/>
              </a:rPr>
              <a:t>Inappropriate use</a:t>
            </a:r>
          </a:p>
        </p:txBody>
      </p:sp>
      <p:sp>
        <p:nvSpPr>
          <p:cNvPr id="11" name="TextBox 10"/>
          <p:cNvSpPr txBox="1"/>
          <p:nvPr/>
        </p:nvSpPr>
        <p:spPr>
          <a:xfrm>
            <a:off x="6446520" y="3429000"/>
            <a:ext cx="4480560" cy="1463040"/>
          </a:xfrm>
          <a:prstGeom prst="rect">
            <a:avLst/>
          </a:prstGeom>
          <a:noFill/>
        </p:spPr>
        <p:txBody>
          <a:bodyPr wrap="square" anchor="t" lIns="0" rIns="0" tIns="0" bIns="0">
            <a:spAutoFit/>
          </a:bodyPr>
          <a:lstStyle/>
          <a:p>
            <a:pPr algn="l">
              <a:lnSpc>
                <a:spcPct val="125000"/>
              </a:lnSpc>
            </a:pPr>
            <a:r>
              <a:rPr sz="1450" b="0" i="0">
                <a:solidFill>
                  <a:srgbClr val="6B6259"/>
                </a:solidFill>
                <a:latin typeface="Calibri"/>
              </a:rPr>
              <a:t>A practitioner pastes a client's real name, address, and disclosed history into a public AI tool to “save time” writing the same note.</a:t>
            </a:r>
          </a:p>
        </p:txBody>
      </p:sp>
      <p:sp>
        <p:nvSpPr>
          <p:cNvPr id="12" name="TextBox 11"/>
          <p:cNvSpPr txBox="1"/>
          <p:nvPr/>
        </p:nvSpPr>
        <p:spPr>
          <a:xfrm>
            <a:off x="640080" y="5349240"/>
            <a:ext cx="10698480" cy="822960"/>
          </a:xfrm>
          <a:prstGeom prst="rect">
            <a:avLst/>
          </a:prstGeom>
          <a:noFill/>
        </p:spPr>
        <p:txBody>
          <a:bodyPr wrap="square" anchor="t" lIns="0" rIns="0" tIns="0" bIns="0">
            <a:spAutoFit/>
          </a:bodyPr>
          <a:lstStyle/>
          <a:p>
            <a:pPr algn="l">
              <a:lnSpc>
                <a:spcPct val="115000"/>
              </a:lnSpc>
            </a:pPr>
            <a:r>
              <a:rPr sz="1500" b="0" i="1">
                <a:solidFill>
                  <a:srgbClr val="6B6259"/>
                </a:solidFill>
                <a:latin typeface="Calibri"/>
              </a:rPr>
              <a:t>The task is identical. What changes everything is what information crosses the tool's boundary.</a:t>
            </a:r>
          </a:p>
        </p:txBody>
      </p:sp>
      <p:sp>
        <p:nvSpPr>
          <p:cNvPr id="13" name="TextBox 12"/>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6B6259"/>
                </a:solidFill>
                <a:latin typeface="Calibri"/>
              </a:rPr>
              <a:t>CUSW 403 · Module 2 · Week 2</a:t>
            </a:r>
          </a:p>
        </p:txBody>
      </p:sp>
      <p:sp>
        <p:nvSpPr>
          <p:cNvPr id="14" name="TextBox 13"/>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6B6259"/>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C8102E"/>
                </a:solidFill>
                <a:latin typeface="Calibri"/>
              </a:rPr>
              <a:t>BEFORE WEEK 3</a:t>
            </a:r>
          </a:p>
        </p:txBody>
      </p:sp>
      <p:sp>
        <p:nvSpPr>
          <p:cNvPr id="3" name="TextBox 2"/>
          <p:cNvSpPr txBox="1"/>
          <p:nvPr/>
        </p:nvSpPr>
        <p:spPr>
          <a:xfrm>
            <a:off x="640080" y="685800"/>
            <a:ext cx="10058400" cy="822960"/>
          </a:xfrm>
          <a:prstGeom prst="rect">
            <a:avLst/>
          </a:prstGeom>
          <a:noFill/>
        </p:spPr>
        <p:txBody>
          <a:bodyPr wrap="square" anchor="t" lIns="0" rIns="0" tIns="0" bIns="0">
            <a:spAutoFit/>
          </a:bodyPr>
          <a:lstStyle/>
          <a:p>
            <a:pPr algn="l">
              <a:lnSpc>
                <a:spcPct val="115000"/>
              </a:lnSpc>
            </a:pPr>
            <a:r>
              <a:rPr sz="3400" b="1" i="0">
                <a:solidFill>
                  <a:srgbClr val="1B1512"/>
                </a:solidFill>
                <a:latin typeface="Cambria"/>
              </a:rPr>
              <a:t>Your Reflection Prompt, In Brief</a:t>
            </a:r>
          </a:p>
        </p:txBody>
      </p:sp>
      <p:sp>
        <p:nvSpPr>
          <p:cNvPr id="4" name="TextBox 3"/>
          <p:cNvSpPr txBox="1"/>
          <p:nvPr/>
        </p:nvSpPr>
        <p:spPr>
          <a:xfrm>
            <a:off x="640080" y="1828800"/>
            <a:ext cx="10058400" cy="4023360"/>
          </a:xfrm>
          <a:prstGeom prst="rect">
            <a:avLst/>
          </a:prstGeom>
          <a:noFill/>
        </p:spPr>
        <p:txBody>
          <a:bodyPr wrap="square" anchor="t" lIns="0" rIns="0" tIns="0" bIns="0">
            <a:spAutoFit/>
          </a:bodyPr>
          <a:lstStyle/>
          <a:p>
            <a:pPr algn="l">
              <a:lnSpc>
                <a:spcPct val="135000"/>
              </a:lnSpc>
            </a:pPr>
            <a:r>
              <a:rPr sz="1900" b="0" i="0">
                <a:solidFill>
                  <a:srgbClr val="1B1512"/>
                </a:solidFill>
                <a:latin typeface="Calibri"/>
              </a:rPr>
              <a:t>This week's AI Ethics Reflection will ask you to work through a scenario like the one above in your own words: where did the line hold, where did it almost slip, and what would you have done differently. There's no single right answer — the goal is that you can name the tension clearly, not resolve it perfectly.</a:t>
            </a:r>
          </a:p>
        </p:txBody>
      </p:sp>
      <p:sp>
        <p:nvSpPr>
          <p:cNvPr id="5" name="TextBox 4"/>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6B6259"/>
                </a:solidFill>
                <a:latin typeface="Calibri"/>
              </a:rPr>
              <a:t>CUSW 403 · Module 2 · Week 2</a:t>
            </a:r>
          </a:p>
        </p:txBody>
      </p:sp>
      <p:sp>
        <p:nvSpPr>
          <p:cNvPr id="6" name="TextBox 5"/>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6B6259"/>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C8102E"/>
                </a:solidFill>
                <a:latin typeface="Calibri"/>
              </a:rPr>
              <a:t>BEYOND THIS COURSE</a:t>
            </a:r>
          </a:p>
        </p:txBody>
      </p:sp>
      <p:sp>
        <p:nvSpPr>
          <p:cNvPr id="3" name="TextBox 2"/>
          <p:cNvSpPr txBox="1"/>
          <p:nvPr/>
        </p:nvSpPr>
        <p:spPr>
          <a:xfrm>
            <a:off x="640080" y="685800"/>
            <a:ext cx="10058400" cy="822960"/>
          </a:xfrm>
          <a:prstGeom prst="rect">
            <a:avLst/>
          </a:prstGeom>
          <a:noFill/>
        </p:spPr>
        <p:txBody>
          <a:bodyPr wrap="square" anchor="t" lIns="0" rIns="0" tIns="0" bIns="0">
            <a:spAutoFit/>
          </a:bodyPr>
          <a:lstStyle/>
          <a:p>
            <a:pPr algn="l">
              <a:lnSpc>
                <a:spcPct val="115000"/>
              </a:lnSpc>
            </a:pPr>
            <a:r>
              <a:rPr sz="3400" b="1" i="0">
                <a:solidFill>
                  <a:srgbClr val="1B1512"/>
                </a:solidFill>
                <a:latin typeface="Cambria"/>
              </a:rPr>
              <a:t>Professional Organizations &amp; Licensing</a:t>
            </a:r>
          </a:p>
        </p:txBody>
      </p:sp>
      <p:sp>
        <p:nvSpPr>
          <p:cNvPr id="4" name="TextBox 3"/>
          <p:cNvSpPr txBox="1"/>
          <p:nvPr/>
        </p:nvSpPr>
        <p:spPr>
          <a:xfrm>
            <a:off x="640080" y="1828800"/>
            <a:ext cx="10058400" cy="4023360"/>
          </a:xfrm>
          <a:prstGeom prst="rect">
            <a:avLst/>
          </a:prstGeom>
          <a:noFill/>
        </p:spPr>
        <p:txBody>
          <a:bodyPr wrap="square" anchor="t" lIns="0" rIns="0" tIns="0" bIns="0">
            <a:spAutoFit/>
          </a:bodyPr>
          <a:lstStyle/>
          <a:p>
            <a:pPr algn="l">
              <a:lnSpc>
                <a:spcPct val="135000"/>
              </a:lnSpc>
            </a:pPr>
            <a:r>
              <a:rPr sz="1900" b="0" i="0">
                <a:solidFill>
                  <a:srgbClr val="1B1512"/>
                </a:solidFill>
                <a:latin typeface="Calibri"/>
              </a:rPr>
              <a:t>NASW, CSWE, and state licensing boards are actively developing guidance on AI in practice — this is a live, moving conversation you're joining, not a settled question you're memorizing. Expect your own professional judgment about AI use to keep developing well past this course.</a:t>
            </a:r>
          </a:p>
        </p:txBody>
      </p:sp>
      <p:sp>
        <p:nvSpPr>
          <p:cNvPr id="5" name="TextBox 4"/>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6B6259"/>
                </a:solidFill>
                <a:latin typeface="Calibri"/>
              </a:rPr>
              <a:t>CUSW 403 · Module 2 · Week 2</a:t>
            </a:r>
          </a:p>
        </p:txBody>
      </p:sp>
      <p:sp>
        <p:nvSpPr>
          <p:cNvPr id="6" name="TextBox 5"/>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6B6259"/>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20040"/>
            <a:ext cx="10058400" cy="365760"/>
          </a:xfrm>
          <a:prstGeom prst="rect">
            <a:avLst/>
          </a:prstGeom>
          <a:noFill/>
        </p:spPr>
        <p:txBody>
          <a:bodyPr wrap="square" anchor="t" lIns="0" rIns="0" tIns="0" bIns="0">
            <a:spAutoFit/>
          </a:bodyPr>
          <a:lstStyle/>
          <a:p>
            <a:pPr algn="l">
              <a:lnSpc>
                <a:spcPct val="115000"/>
              </a:lnSpc>
            </a:pPr>
            <a:r>
              <a:rPr sz="1300" b="1" i="0">
                <a:solidFill>
                  <a:srgbClr val="C8102E"/>
                </a:solidFill>
                <a:latin typeface="Calibri"/>
              </a:rPr>
              <a:t>DUE THIS WEEK</a:t>
            </a:r>
          </a:p>
        </p:txBody>
      </p:sp>
      <p:sp>
        <p:nvSpPr>
          <p:cNvPr id="3" name="TextBox 2"/>
          <p:cNvSpPr txBox="1"/>
          <p:nvPr/>
        </p:nvSpPr>
        <p:spPr>
          <a:xfrm>
            <a:off x="640080" y="685800"/>
            <a:ext cx="10058400" cy="822960"/>
          </a:xfrm>
          <a:prstGeom prst="rect">
            <a:avLst/>
          </a:prstGeom>
          <a:noFill/>
        </p:spPr>
        <p:txBody>
          <a:bodyPr wrap="square" anchor="t" lIns="0" rIns="0" tIns="0" bIns="0">
            <a:spAutoFit/>
          </a:bodyPr>
          <a:lstStyle/>
          <a:p>
            <a:pPr algn="l">
              <a:lnSpc>
                <a:spcPct val="115000"/>
              </a:lnSpc>
            </a:pPr>
            <a:r>
              <a:rPr sz="3400" b="1" i="0">
                <a:solidFill>
                  <a:srgbClr val="1B1512"/>
                </a:solidFill>
                <a:latin typeface="Cambria"/>
              </a:rPr>
              <a:t>AI Ethics Reflection</a:t>
            </a:r>
          </a:p>
        </p:txBody>
      </p:sp>
      <p:sp>
        <p:nvSpPr>
          <p:cNvPr id="4" name="Rounded Rectangle 3"/>
          <p:cNvSpPr/>
          <p:nvPr/>
        </p:nvSpPr>
        <p:spPr>
          <a:xfrm>
            <a:off x="640080" y="1920240"/>
            <a:ext cx="10698480" cy="3840480"/>
          </a:xfrm>
          <a:prstGeom prst="roundRect">
            <a:avLst>
              <a:gd name="adj" fmla="val 4000"/>
            </a:avLst>
          </a:prstGeom>
          <a:solidFill>
            <a:srgbClr val="E3DC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2286000"/>
            <a:ext cx="9601200" cy="548640"/>
          </a:xfrm>
          <a:prstGeom prst="rect">
            <a:avLst/>
          </a:prstGeom>
          <a:noFill/>
        </p:spPr>
        <p:txBody>
          <a:bodyPr wrap="square" anchor="t" lIns="0" rIns="0" tIns="0" bIns="0">
            <a:spAutoFit/>
          </a:bodyPr>
          <a:lstStyle/>
          <a:p>
            <a:pPr algn="l">
              <a:lnSpc>
                <a:spcPct val="115000"/>
              </a:lnSpc>
            </a:pPr>
            <a:r>
              <a:rPr sz="2000" b="1" i="0">
                <a:solidFill>
                  <a:srgbClr val="1B1512"/>
                </a:solidFill>
                <a:latin typeface="Cambria"/>
              </a:rPr>
              <a:t>An individual written reflection — not a group product.</a:t>
            </a:r>
          </a:p>
        </p:txBody>
      </p:sp>
      <p:sp>
        <p:nvSpPr>
          <p:cNvPr id="6" name="TextBox 5"/>
          <p:cNvSpPr txBox="1"/>
          <p:nvPr/>
        </p:nvSpPr>
        <p:spPr>
          <a:xfrm>
            <a:off x="1051560" y="2971800"/>
            <a:ext cx="9601200" cy="1371600"/>
          </a:xfrm>
          <a:prstGeom prst="rect">
            <a:avLst/>
          </a:prstGeom>
          <a:noFill/>
        </p:spPr>
        <p:txBody>
          <a:bodyPr wrap="square" anchor="t" lIns="0" rIns="0" tIns="0" bIns="0">
            <a:spAutoFit/>
          </a:bodyPr>
          <a:lstStyle/>
          <a:p>
            <a:pPr algn="l">
              <a:lnSpc>
                <a:spcPct val="130000"/>
              </a:lnSpc>
            </a:pPr>
            <a:r>
              <a:rPr sz="1700" b="0" i="0">
                <a:solidFill>
                  <a:srgbClr val="1B1512"/>
                </a:solidFill>
                <a:latin typeface="Calibri"/>
              </a:rPr>
              <a:t>Respond to prompts about the ethical tensions AI tools raise in social work practice: confidentiality, bias, client trust, and appropriate boundaries. You may use the Practice Coach to think the prompt through — it will not draft your answer.</a:t>
            </a:r>
          </a:p>
        </p:txBody>
      </p:sp>
      <p:sp>
        <p:nvSpPr>
          <p:cNvPr id="7" name="TextBox 6"/>
          <p:cNvSpPr txBox="1"/>
          <p:nvPr/>
        </p:nvSpPr>
        <p:spPr>
          <a:xfrm>
            <a:off x="1051560" y="4434840"/>
            <a:ext cx="9601200" cy="548640"/>
          </a:xfrm>
          <a:prstGeom prst="rect">
            <a:avLst/>
          </a:prstGeom>
          <a:noFill/>
        </p:spPr>
        <p:txBody>
          <a:bodyPr wrap="square" anchor="t" lIns="0" rIns="0" tIns="0" bIns="0">
            <a:spAutoFit/>
          </a:bodyPr>
          <a:lstStyle/>
          <a:p>
            <a:pPr algn="l">
              <a:lnSpc>
                <a:spcPct val="115000"/>
              </a:lnSpc>
            </a:pPr>
            <a:r>
              <a:rPr sz="1500" b="1" i="0">
                <a:solidFill>
                  <a:srgbClr val="C8102E"/>
                </a:solidFill>
                <a:latin typeface="Calibri"/>
              </a:rPr>
              <a:t>Worth: 5% of course grade   ·   Competency 1: Ethical &amp; Professional Behavior</a:t>
            </a:r>
          </a:p>
        </p:txBody>
      </p:sp>
      <p:sp>
        <p:nvSpPr>
          <p:cNvPr id="8" name="TextBox 7"/>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6B6259"/>
                </a:solidFill>
                <a:latin typeface="Calibri"/>
              </a:rPr>
              <a:t>CUSW 403 · Module 2 · Week 2</a:t>
            </a:r>
          </a:p>
        </p:txBody>
      </p:sp>
      <p:sp>
        <p:nvSpPr>
          <p:cNvPr id="9" name="TextBox 8"/>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6B6259"/>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B1512"/>
        </a:solidFill>
        <a:effectLst/>
      </p:bgPr>
    </p:bg>
    <p:spTree>
      <p:nvGrpSpPr>
        <p:cNvPr id="1" name=""/>
        <p:cNvGrpSpPr/>
        <p:nvPr/>
      </p:nvGrpSpPr>
      <p:grpSpPr/>
      <p:sp>
        <p:nvSpPr>
          <p:cNvPr id="2" name="TextBox 1"/>
          <p:cNvSpPr txBox="1"/>
          <p:nvPr/>
        </p:nvSpPr>
        <p:spPr>
          <a:xfrm>
            <a:off x="914400" y="2286000"/>
            <a:ext cx="10332720" cy="457200"/>
          </a:xfrm>
          <a:prstGeom prst="rect">
            <a:avLst/>
          </a:prstGeom>
          <a:noFill/>
        </p:spPr>
        <p:txBody>
          <a:bodyPr wrap="square" anchor="t" lIns="0" rIns="0" tIns="0" bIns="0">
            <a:spAutoFit/>
          </a:bodyPr>
          <a:lstStyle/>
          <a:p>
            <a:pPr algn="l">
              <a:lnSpc>
                <a:spcPct val="115000"/>
              </a:lnSpc>
            </a:pPr>
            <a:r>
              <a:rPr sz="1500" b="1" i="0">
                <a:solidFill>
                  <a:srgbClr val="EAAA00"/>
                </a:solidFill>
                <a:latin typeface="Calibri"/>
              </a:rPr>
              <a:t>NEXT WEEK</a:t>
            </a:r>
          </a:p>
        </p:txBody>
      </p:sp>
      <p:sp>
        <p:nvSpPr>
          <p:cNvPr id="3" name="TextBox 2"/>
          <p:cNvSpPr txBox="1"/>
          <p:nvPr/>
        </p:nvSpPr>
        <p:spPr>
          <a:xfrm>
            <a:off x="914400" y="2743200"/>
            <a:ext cx="10332720" cy="1005840"/>
          </a:xfrm>
          <a:prstGeom prst="rect">
            <a:avLst/>
          </a:prstGeom>
          <a:noFill/>
        </p:spPr>
        <p:txBody>
          <a:bodyPr wrap="square" anchor="t" lIns="0" rIns="0" tIns="0" bIns="0">
            <a:spAutoFit/>
          </a:bodyPr>
          <a:lstStyle/>
          <a:p>
            <a:pPr algn="l">
              <a:lnSpc>
                <a:spcPct val="115000"/>
              </a:lnSpc>
            </a:pPr>
            <a:r>
              <a:rPr sz="3200" b="1" i="0">
                <a:solidFill>
                  <a:srgbClr val="FFFFFF"/>
                </a:solidFill>
                <a:latin typeface="Cambria"/>
              </a:rPr>
              <a:t>Module 3: Engagement &amp; Micro Practice Skills</a:t>
            </a:r>
          </a:p>
        </p:txBody>
      </p:sp>
      <p:sp>
        <p:nvSpPr>
          <p:cNvPr id="4" name="TextBox 3"/>
          <p:cNvSpPr txBox="1"/>
          <p:nvPr/>
        </p:nvSpPr>
        <p:spPr>
          <a:xfrm>
            <a:off x="914400" y="4023360"/>
            <a:ext cx="10332720" cy="731520"/>
          </a:xfrm>
          <a:prstGeom prst="rect">
            <a:avLst/>
          </a:prstGeom>
          <a:noFill/>
        </p:spPr>
        <p:txBody>
          <a:bodyPr wrap="square" anchor="t" lIns="0" rIns="0" tIns="0" bIns="0">
            <a:spAutoFit/>
          </a:bodyPr>
          <a:lstStyle/>
          <a:p>
            <a:pPr algn="l">
              <a:lnSpc>
                <a:spcPct val="115000"/>
              </a:lnSpc>
            </a:pPr>
            <a:r>
              <a:rPr sz="2400" b="0" i="1">
                <a:solidFill>
                  <a:srgbClr val="E3DCCE"/>
                </a:solidFill>
                <a:latin typeface="Cambria"/>
              </a:rPr>
              <a:t>Questions?</a:t>
            </a:r>
          </a:p>
        </p:txBody>
      </p:sp>
      <p:sp>
        <p:nvSpPr>
          <p:cNvPr id="5" name="TextBox 4"/>
          <p:cNvSpPr txBox="1"/>
          <p:nvPr/>
        </p:nvSpPr>
        <p:spPr>
          <a:xfrm>
            <a:off x="640080" y="6473952"/>
            <a:ext cx="6400800" cy="274320"/>
          </a:xfrm>
          <a:prstGeom prst="rect">
            <a:avLst/>
          </a:prstGeom>
          <a:noFill/>
        </p:spPr>
        <p:txBody>
          <a:bodyPr wrap="square" anchor="t" lIns="0" rIns="0" tIns="0" bIns="0">
            <a:spAutoFit/>
          </a:bodyPr>
          <a:lstStyle/>
          <a:p>
            <a:pPr algn="l">
              <a:lnSpc>
                <a:spcPct val="115000"/>
              </a:lnSpc>
            </a:pPr>
            <a:r>
              <a:rPr sz="1000" b="0" i="0">
                <a:solidFill>
                  <a:srgbClr val="E3DCCE"/>
                </a:solidFill>
                <a:latin typeface="Calibri"/>
              </a:rPr>
              <a:t>CUSW 403 · Module 2 · Week 2</a:t>
            </a:r>
          </a:p>
        </p:txBody>
      </p:sp>
      <p:sp>
        <p:nvSpPr>
          <p:cNvPr id="6" name="TextBox 5"/>
          <p:cNvSpPr txBox="1"/>
          <p:nvPr/>
        </p:nvSpPr>
        <p:spPr>
          <a:xfrm>
            <a:off x="11430000" y="6473952"/>
            <a:ext cx="548640" cy="274320"/>
          </a:xfrm>
          <a:prstGeom prst="rect">
            <a:avLst/>
          </a:prstGeom>
          <a:noFill/>
        </p:spPr>
        <p:txBody>
          <a:bodyPr wrap="square" anchor="t" lIns="0" rIns="0" tIns="0" bIns="0">
            <a:spAutoFit/>
          </a:bodyPr>
          <a:lstStyle/>
          <a:p>
            <a:pPr algn="r">
              <a:lnSpc>
                <a:spcPct val="115000"/>
              </a:lnSpc>
            </a:pPr>
            <a:r>
              <a:rPr sz="1000" b="0" i="0">
                <a:solidFill>
                  <a:srgbClr val="E3DCCE"/>
                </a:solidFill>
                <a:latin typeface="Calibri"/>
              </a:rPr>
              <a:t>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