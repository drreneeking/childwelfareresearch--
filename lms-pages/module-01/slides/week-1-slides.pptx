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dPt>
            <c:idx val="0"/>
            <c:spPr>
              <a:solidFill>
                <a:srgbClr val="C8102E"/>
              </a:solidFill>
            </c:spPr>
          </c:dPt>
          <c:dPt>
            <c:idx val="1"/>
            <c:spPr>
              <a:solidFill>
                <a:srgbClr val="EAAA00"/>
              </a:solidFill>
            </c:spPr>
          </c:dPt>
          <c:dPt>
            <c:idx val="2"/>
            <c:spPr>
              <a:solidFill>
                <a:srgbClr val="1B1512"/>
              </a:solidFill>
            </c:spPr>
          </c:dPt>
          <c:dPt>
            <c:idx val="3"/>
            <c:spPr>
              <a:solidFill>
                <a:srgbClr val="8E0B20"/>
              </a:solidFill>
            </c:spPr>
          </c:dPt>
          <c:dPt>
            <c:idx val="4"/>
            <c:spPr>
              <a:solidFill>
                <a:srgbClr val="8A6D18"/>
              </a:solidFill>
            </c:spPr>
          </c:dPt>
          <c:dPt>
            <c:idx val="5"/>
            <c:spPr>
              <a:solidFill>
                <a:srgbClr val="6B6259"/>
              </a:solidFill>
            </c:spPr>
          </c:dPt>
          <c:dPt>
            <c:idx val="6"/>
            <c:spPr>
              <a:solidFill>
                <a:srgbClr val="E57A8A"/>
              </a:solidFill>
            </c:spPr>
          </c:dPt>
          <c:dPt>
            <c:idx val="7"/>
            <c:spPr>
              <a:solidFill>
                <a:srgbClr val="F2C95C"/>
              </a:solidFill>
            </c:spPr>
          </c:dPt>
          <c:dPt>
            <c:idx val="8"/>
            <c:spPr>
              <a:solidFill>
                <a:srgbClr val="4A4038"/>
              </a:solidFill>
            </c:spPr>
          </c:dPt>
          <c:dPt>
            <c:idx val="9"/>
            <c:spPr>
              <a:solidFill>
                <a:srgbClr val="C9BBA3"/>
              </a:solidFill>
            </c:spPr>
          </c:dPt>
          <c:cat>
            <c:strRef>
              <c:f>Sheet1!$A$2:$A$11</c:f>
              <c:strCache>
                <c:ptCount val="10"/>
                <c:pt idx="0">
                  <c:v>Attendance/Participation</c:v>
                </c:pt>
                <c:pt idx="1">
                  <c:v>Orientation Quiz</c:v>
                </c:pt>
                <c:pt idx="2">
                  <c:v>AI Ethics Reflection</c:v>
                </c:pt>
                <c:pt idx="3">
                  <c:v>Engagement Simulation</c:v>
                </c:pt>
                <c:pt idx="4">
                  <c:v>First Client Case</c:v>
                </c:pt>
                <c:pt idx="5">
                  <c:v>Child Welfare Obs. Log</c:v>
                </c:pt>
                <c:pt idx="6">
                  <c:v>Afrocentric Case Study</c:v>
                </c:pt>
                <c:pt idx="7">
                  <c:v>Community Asset Map</c:v>
                </c:pt>
                <c:pt idx="8">
                  <c:v>Portfolio + Field Readiness</c:v>
                </c:pt>
                <c:pt idx="9">
                  <c:v>Final Exam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</c:v>
                </c:pt>
                <c:pt idx="1">
                  <c:v>5</c:v>
                </c:pt>
                <c:pt idx="2">
                  <c:v>5</c:v>
                </c:pt>
                <c:pt idx="3">
                  <c:v>15</c:v>
                </c:pt>
                <c:pt idx="4">
                  <c:v>15</c:v>
                </c:pt>
                <c:pt idx="5">
                  <c:v>10</c:v>
                </c:pt>
                <c:pt idx="6">
                  <c:v>10</c:v>
                </c:pt>
                <c:pt idx="7">
                  <c:v>10</c:v>
                </c:pt>
                <c:pt idx="8">
                  <c:v>10</c:v>
                </c:pt>
                <c:pt idx="9">
                  <c:v>10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10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AAA00"/>
                </a:solidFill>
                <a:latin typeface="Calibri"/>
              </a:rPr>
              <a:t>WHITNEY M. YOUNG, JR. SCHOOL OF SOCIAL WORK · CLARK ATLANTA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CUSW 403 — Practice Competency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8A96"/>
                </a:solidFill>
                <a:latin typeface="Calibri"/>
              </a:rPr>
              <a:t>Module 1 ·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1">
                <a:solidFill>
                  <a:srgbClr val="FFFFFF"/>
                </a:solidFill>
                <a:latin typeface="Cambria"/>
              </a:rPr>
              <a:t>Orientation to Generalist Practice &amp; the GIM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343400"/>
            <a:ext cx="2011680" cy="38100"/>
          </a:xfrm>
          <a:prstGeom prst="rect">
            <a:avLst/>
          </a:prstGeom>
          <a:solidFill>
            <a:srgbClr val="EA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6177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3DCCE"/>
                </a:solidFill>
                <a:latin typeface="Calibri"/>
              </a:rPr>
              <a:t>Dr. Ivis Renee 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CUSW 403 · Module 1 · 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TODAY'S SESSION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Where We're Headed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874519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59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1512"/>
                </a:solidFill>
                <a:latin typeface="Cambria"/>
              </a:rPr>
              <a:t>Welcome &amp; Introductions</a:t>
            </a:r>
          </a:p>
        </p:txBody>
      </p:sp>
      <p:sp>
        <p:nvSpPr>
          <p:cNvPr id="6" name="Oval 5"/>
          <p:cNvSpPr/>
          <p:nvPr/>
        </p:nvSpPr>
        <p:spPr>
          <a:xfrm>
            <a:off x="4251960" y="1874519"/>
            <a:ext cx="640080" cy="640080"/>
          </a:xfrm>
          <a:prstGeom prst="ellipse">
            <a:avLst/>
          </a:prstGeom>
          <a:solidFill>
            <a:srgbClr val="EAA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1B1512"/>
                </a:solidFill>
                <a:latin typeface="Cambria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2651759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1512"/>
                </a:solidFill>
                <a:latin typeface="Cambria"/>
              </a:rPr>
              <a:t>Syllabus Walkthrough</a:t>
            </a:r>
          </a:p>
        </p:txBody>
      </p:sp>
      <p:sp>
        <p:nvSpPr>
          <p:cNvPr id="8" name="Oval 7"/>
          <p:cNvSpPr/>
          <p:nvPr/>
        </p:nvSpPr>
        <p:spPr>
          <a:xfrm>
            <a:off x="7863840" y="1874519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651759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1512"/>
                </a:solidFill>
                <a:latin typeface="Cambria"/>
              </a:rPr>
              <a:t>What Is Generalist Practice?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429000"/>
            <a:ext cx="640080" cy="640080"/>
          </a:xfrm>
          <a:prstGeom prst="ellipse">
            <a:avLst/>
          </a:prstGeom>
          <a:solidFill>
            <a:srgbClr val="EAA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1B1512"/>
                </a:solidFill>
                <a:latin typeface="Cambria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06240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1512"/>
                </a:solidFill>
                <a:latin typeface="Cambria"/>
              </a:rPr>
              <a:t>The GIM Model</a:t>
            </a:r>
          </a:p>
        </p:txBody>
      </p:sp>
      <p:sp>
        <p:nvSpPr>
          <p:cNvPr id="12" name="Oval 11"/>
          <p:cNvSpPr/>
          <p:nvPr/>
        </p:nvSpPr>
        <p:spPr>
          <a:xfrm>
            <a:off x="4251960" y="3429000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4206240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1512"/>
                </a:solidFill>
                <a:latin typeface="Cambria"/>
              </a:rPr>
              <a:t>Your Pre-Practice Experience</a:t>
            </a:r>
          </a:p>
        </p:txBody>
      </p:sp>
      <p:sp>
        <p:nvSpPr>
          <p:cNvPr id="14" name="Oval 13"/>
          <p:cNvSpPr/>
          <p:nvPr/>
        </p:nvSpPr>
        <p:spPr>
          <a:xfrm>
            <a:off x="7863840" y="3429000"/>
            <a:ext cx="640080" cy="640080"/>
          </a:xfrm>
          <a:prstGeom prst="ellipse">
            <a:avLst/>
          </a:prstGeom>
          <a:solidFill>
            <a:srgbClr val="EAA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1B1512"/>
                </a:solidFill>
                <a:latin typeface="Cambria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4206240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1512"/>
                </a:solidFill>
                <a:latin typeface="Cambria"/>
              </a:rPr>
              <a:t>This Week's Deliverable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1 · Week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WELCOME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Before We Dive 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10881360" cy="4023360"/>
          </a:xfrm>
          <a:prstGeom prst="roundRect">
            <a:avLst>
              <a:gd name="adj" fmla="val 4000"/>
            </a:avLst>
          </a:prstGeom>
          <a:solidFill>
            <a:srgbClr val="E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1512"/>
                </a:solidFill>
                <a:latin typeface="Cambria"/>
              </a:rPr>
              <a:t>Turn to a neighbor and share:</a:t>
            </a:r>
          </a:p>
        </p:txBody>
      </p:sp>
      <p:sp>
        <p:nvSpPr>
          <p:cNvPr id="6" name="Oval 5"/>
          <p:cNvSpPr/>
          <p:nvPr/>
        </p:nvSpPr>
        <p:spPr>
          <a:xfrm>
            <a:off x="1097280" y="2971800"/>
            <a:ext cx="502920" cy="50292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035808"/>
            <a:ext cx="8961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1B1512"/>
                </a:solidFill>
                <a:latin typeface="Calibri"/>
              </a:rPr>
              <a:t>Your name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3840480"/>
            <a:ext cx="502920" cy="50292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904487"/>
            <a:ext cx="8961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1B1512"/>
                </a:solidFill>
                <a:latin typeface="Calibri"/>
              </a:rPr>
              <a:t>Why social work, for you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4709160"/>
            <a:ext cx="502920" cy="50292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773168"/>
            <a:ext cx="8961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1B1512"/>
                </a:solidFill>
                <a:latin typeface="Calibri"/>
              </a:rPr>
              <a:t>One thing you're nervous about this semester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1 · Week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AAA00"/>
                </a:solidFill>
                <a:latin typeface="Calibri"/>
              </a:rPr>
              <a:t>ORIENTATION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FFFFFF"/>
                </a:solidFill>
                <a:latin typeface="Cambria"/>
              </a:rPr>
              <a:t>This Course,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33832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0" b="1" i="0">
                <a:solidFill>
                  <a:srgbClr val="EAAA00"/>
                </a:solidFill>
                <a:latin typeface="Cambri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8620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2377440"/>
            <a:ext cx="33832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0" b="1" i="0">
                <a:solidFill>
                  <a:srgbClr val="EAAA00"/>
                </a:solidFill>
                <a:latin typeface="Cambria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388620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WEEKS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0" y="2377440"/>
            <a:ext cx="33832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0" b="1" i="0">
                <a:solidFill>
                  <a:srgbClr val="EAAA00"/>
                </a:solidFill>
                <a:latin typeface="Cambria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0" y="388620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PPE PHASES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CUSW 403 · Module 1 · Week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SYLLABUS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Grading Breakdown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691640"/>
          <a:ext cx="640080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223760" y="2103120"/>
            <a:ext cx="448056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259"/>
                </a:solidFill>
                <a:latin typeface="Calibri"/>
              </a:rPr>
              <a:t>Phase 1 Benchmark Checkpoint (Module 4) requires a minimum 80% to advance to Phase 2 — a readiness gate on top of the grade, not just part of the average.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1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THIS 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What's Different Here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874519"/>
            <a:ext cx="685800" cy="68580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1828799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B1512"/>
                </a:solidFill>
                <a:latin typeface="Cambria"/>
              </a:rPr>
              <a:t>Benchmark Checkpoint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331719"/>
            <a:ext cx="9326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B6259"/>
                </a:solidFill>
                <a:latin typeface="Calibri"/>
              </a:rPr>
              <a:t>Must clear 80% at Week 7 to advance to Phase 2 rotations.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291839"/>
            <a:ext cx="685800" cy="68580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46119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B1512"/>
                </a:solidFill>
                <a:latin typeface="Cambria"/>
              </a:rPr>
              <a:t>Real agency rotations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3749039"/>
            <a:ext cx="9326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B6259"/>
                </a:solidFill>
                <a:latin typeface="Calibri"/>
              </a:rPr>
              <a:t>Phase 2 places you in child welfare, mental health, and community-org settings.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709159"/>
            <a:ext cx="685800" cy="68580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4663439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B1512"/>
                </a:solidFill>
                <a:latin typeface="Cambria"/>
              </a:rPr>
              <a:t>Your own AI Practice Coach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5166359"/>
            <a:ext cx="9326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B6259"/>
                </a:solidFill>
                <a:latin typeface="Calibri"/>
              </a:rPr>
              <a:t>Coaching and feedback only — never drafts your submitted 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1 · Week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517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AAA00"/>
                </a:solidFill>
                <a:latin typeface="Calibri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Cambria"/>
              </a:rPr>
              <a:t>What Is Generalist Practice?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CUSW 403 · Module 1 ·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GENERALIST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Three Levels of Practice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3520440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28600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C8102E"/>
                </a:solidFill>
                <a:latin typeface="Cambria"/>
              </a:rPr>
              <a:t>Micro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017520"/>
            <a:ext cx="2880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B1512"/>
                </a:solidFill>
                <a:latin typeface="Calibri"/>
              </a:rPr>
              <a:t>Individuals &amp; families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965960"/>
            <a:ext cx="3520440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8A6D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28600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8A6D18"/>
                </a:solidFill>
                <a:latin typeface="Cambria"/>
              </a:rPr>
              <a:t>Mezzo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3017520"/>
            <a:ext cx="2880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B1512"/>
                </a:solidFill>
                <a:latin typeface="Calibri"/>
              </a:rPr>
              <a:t>Groups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965960"/>
            <a:ext cx="3520440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6B62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28600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6B6259"/>
                </a:solidFill>
                <a:latin typeface="Cambria"/>
              </a:rPr>
              <a:t>Macro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3017520"/>
            <a:ext cx="2880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B1512"/>
                </a:solidFill>
                <a:latin typeface="Calibri"/>
              </a:rPr>
              <a:t>Organizations &amp; communities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1 · Week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GENERALIST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One Family, Three Levels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B6259"/>
                </a:solidFill>
                <a:latin typeface="Calibri"/>
              </a:rPr>
              <a:t>A family faces a housing crisis. Generalist practice works at every level at once: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48840"/>
            <a:ext cx="3337560" cy="3291840"/>
          </a:xfrm>
          <a:prstGeom prst="roundRect">
            <a:avLst>
              <a:gd name="adj" fmla="val 6000"/>
            </a:avLst>
          </a:prstGeom>
          <a:solidFill>
            <a:srgbClr val="E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2788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C8102E"/>
                </a:solidFill>
                <a:latin typeface="Cambria"/>
              </a:rPr>
              <a:t>Micro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27889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B1512"/>
                </a:solidFill>
                <a:latin typeface="Calibri"/>
              </a:rPr>
              <a:t>The family's immediate crisis — engagement, assessment, support</a:t>
            </a:r>
          </a:p>
        </p:txBody>
      </p:sp>
      <p:sp>
        <p:nvSpPr>
          <p:cNvPr id="8" name="Chevron 7"/>
          <p:cNvSpPr/>
          <p:nvPr/>
        </p:nvSpPr>
        <p:spPr>
          <a:xfrm>
            <a:off x="4022446" y="3474720"/>
            <a:ext cx="230428" cy="640080"/>
          </a:xfrm>
          <a:prstGeom prst="chevron">
            <a:avLst/>
          </a:prstGeom>
          <a:solidFill>
            <a:srgbClr val="E3DC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97680" y="2148840"/>
            <a:ext cx="3337560" cy="3291840"/>
          </a:xfrm>
          <a:prstGeom prst="roundRect">
            <a:avLst>
              <a:gd name="adj" fmla="val 6000"/>
            </a:avLst>
          </a:prstGeom>
          <a:solidFill>
            <a:srgbClr val="E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423160"/>
            <a:ext cx="2788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C8102E"/>
                </a:solidFill>
                <a:latin typeface="Cambria"/>
              </a:rPr>
              <a:t>Mezzo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017520"/>
            <a:ext cx="27889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B1512"/>
                </a:solidFill>
                <a:latin typeface="Calibri"/>
              </a:rPr>
              <a:t>A support group of neighbors facing similar precarity</a:t>
            </a:r>
          </a:p>
        </p:txBody>
      </p:sp>
      <p:sp>
        <p:nvSpPr>
          <p:cNvPr id="12" name="Chevron 11"/>
          <p:cNvSpPr/>
          <p:nvPr/>
        </p:nvSpPr>
        <p:spPr>
          <a:xfrm>
            <a:off x="7680046" y="3474720"/>
            <a:ext cx="230428" cy="640080"/>
          </a:xfrm>
          <a:prstGeom prst="chevron">
            <a:avLst/>
          </a:prstGeom>
          <a:solidFill>
            <a:srgbClr val="E3DC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955280" y="2148840"/>
            <a:ext cx="3337560" cy="3291840"/>
          </a:xfrm>
          <a:prstGeom prst="roundRect">
            <a:avLst>
              <a:gd name="adj" fmla="val 6000"/>
            </a:avLst>
          </a:prstGeom>
          <a:solidFill>
            <a:srgbClr val="E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423160"/>
            <a:ext cx="2788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C8102E"/>
                </a:solidFill>
                <a:latin typeface="Cambria"/>
              </a:rPr>
              <a:t>Macro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017520"/>
            <a:ext cx="27889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B1512"/>
                </a:solidFill>
                <a:latin typeface="Calibri"/>
              </a:rPr>
              <a:t>The city's housing policy that created the shortage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1 · Week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AAA00"/>
                </a:solidFill>
                <a:latin typeface="Calibri"/>
              </a:rPr>
              <a:t>MYTH VS. REALITY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1">
                <a:solidFill>
                  <a:srgbClr val="FFFFFF"/>
                </a:solidFill>
                <a:latin typeface="Cambria"/>
              </a:rPr>
              <a:t>"Generalist means unspecialized."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3200400"/>
            <a:ext cx="10515600" cy="2377440"/>
          </a:xfrm>
          <a:prstGeom prst="roundRect">
            <a:avLst>
              <a:gd name="adj" fmla="val 6000"/>
            </a:avLst>
          </a:prstGeom>
          <a:solidFill>
            <a:srgbClr val="2A22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352044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EAAA00"/>
                </a:solidFill>
                <a:latin typeface="Cambria"/>
              </a:rPr>
              <a:t>Reality: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977639"/>
            <a:ext cx="97840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FFFFFF"/>
                </a:solidFill>
                <a:latin typeface="Calibri"/>
              </a:rPr>
              <a:t>Generalist means trained to work across micro, mezzo, and macro levels — not trained less rigorously in any one of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CUSW 403 · Module 1 · 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517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AAA00"/>
                </a:solidFill>
                <a:latin typeface="Calibri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Cambria"/>
              </a:rPr>
              <a:t>The Generalist Intervention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CUSW 403 · Module 1 ·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THE GIM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Why a Model?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98755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0" i="0">
                <a:solidFill>
                  <a:srgbClr val="1B1512"/>
                </a:solidFill>
                <a:latin typeface="Calibri"/>
              </a:rPr>
              <a:t>Every helping relationship in this course — the Engagement Simulation, First Client Case, every agency rotation — moves through the same sequence of stages. The GIM model names that sequence, so you always know what stage of practice you're in and what it calls for.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1 · Week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THE GIM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The Seven Stages</a:t>
            </a:r>
          </a:p>
        </p:txBody>
      </p:sp>
      <p:sp>
        <p:nvSpPr>
          <p:cNvPr id="4" name="Oval 3"/>
          <p:cNvSpPr/>
          <p:nvPr/>
        </p:nvSpPr>
        <p:spPr>
          <a:xfrm>
            <a:off x="996696" y="2331720"/>
            <a:ext cx="621792" cy="621792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154680"/>
            <a:ext cx="14264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1B1512"/>
                </a:solidFill>
                <a:latin typeface="Cambria"/>
              </a:rPr>
              <a:t>Engagement</a:t>
            </a:r>
          </a:p>
        </p:txBody>
      </p:sp>
      <p:sp>
        <p:nvSpPr>
          <p:cNvPr id="6" name="Chevron 5"/>
          <p:cNvSpPr/>
          <p:nvPr/>
        </p:nvSpPr>
        <p:spPr>
          <a:xfrm>
            <a:off x="2045512" y="2450592"/>
            <a:ext cx="148132" cy="384048"/>
          </a:xfrm>
          <a:prstGeom prst="chevron">
            <a:avLst/>
          </a:prstGeom>
          <a:solidFill>
            <a:srgbClr val="E3DC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587752" y="2331720"/>
            <a:ext cx="621792" cy="621792"/>
          </a:xfrm>
          <a:prstGeom prst="ellipse">
            <a:avLst/>
          </a:prstGeom>
          <a:solidFill>
            <a:srgbClr val="EAA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1B1512"/>
                </a:solidFill>
                <a:latin typeface="Cambr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85416" y="3154680"/>
            <a:ext cx="14264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1B1512"/>
                </a:solidFill>
                <a:latin typeface="Cambria"/>
              </a:rPr>
              <a:t>Assessment</a:t>
            </a:r>
          </a:p>
        </p:txBody>
      </p:sp>
      <p:sp>
        <p:nvSpPr>
          <p:cNvPr id="9" name="Chevron 8"/>
          <p:cNvSpPr/>
          <p:nvPr/>
        </p:nvSpPr>
        <p:spPr>
          <a:xfrm>
            <a:off x="3636568" y="2450592"/>
            <a:ext cx="148132" cy="384048"/>
          </a:xfrm>
          <a:prstGeom prst="chevron">
            <a:avLst/>
          </a:prstGeom>
          <a:solidFill>
            <a:srgbClr val="E3DC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178808" y="2331720"/>
            <a:ext cx="621792" cy="621792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76472" y="3154680"/>
            <a:ext cx="14264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1B1512"/>
                </a:solidFill>
                <a:latin typeface="Cambria"/>
              </a:rPr>
              <a:t>Planning</a:t>
            </a:r>
          </a:p>
        </p:txBody>
      </p:sp>
      <p:sp>
        <p:nvSpPr>
          <p:cNvPr id="12" name="Chevron 11"/>
          <p:cNvSpPr/>
          <p:nvPr/>
        </p:nvSpPr>
        <p:spPr>
          <a:xfrm>
            <a:off x="5227624" y="2450592"/>
            <a:ext cx="148132" cy="384048"/>
          </a:xfrm>
          <a:prstGeom prst="chevron">
            <a:avLst/>
          </a:prstGeom>
          <a:solidFill>
            <a:srgbClr val="E3DC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69864" y="2331720"/>
            <a:ext cx="621792" cy="621792"/>
          </a:xfrm>
          <a:prstGeom prst="ellipse">
            <a:avLst/>
          </a:prstGeom>
          <a:solidFill>
            <a:srgbClr val="EAA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1B1512"/>
                </a:solidFill>
                <a:latin typeface="Cambria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67528" y="3154680"/>
            <a:ext cx="14264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1B1512"/>
                </a:solidFill>
                <a:latin typeface="Cambria"/>
              </a:rPr>
              <a:t>Implementation</a:t>
            </a:r>
          </a:p>
        </p:txBody>
      </p:sp>
      <p:sp>
        <p:nvSpPr>
          <p:cNvPr id="15" name="Chevron 14"/>
          <p:cNvSpPr/>
          <p:nvPr/>
        </p:nvSpPr>
        <p:spPr>
          <a:xfrm>
            <a:off x="6818680" y="2450592"/>
            <a:ext cx="148132" cy="384048"/>
          </a:xfrm>
          <a:prstGeom prst="chevron">
            <a:avLst/>
          </a:prstGeom>
          <a:solidFill>
            <a:srgbClr val="E3DC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60920" y="2331720"/>
            <a:ext cx="621792" cy="621792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58584" y="3154680"/>
            <a:ext cx="14264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1B1512"/>
                </a:solidFill>
                <a:latin typeface="Cambria"/>
              </a:rPr>
              <a:t>Evaluation</a:t>
            </a:r>
          </a:p>
        </p:txBody>
      </p:sp>
      <p:sp>
        <p:nvSpPr>
          <p:cNvPr id="18" name="Chevron 17"/>
          <p:cNvSpPr/>
          <p:nvPr/>
        </p:nvSpPr>
        <p:spPr>
          <a:xfrm>
            <a:off x="8409736" y="2450592"/>
            <a:ext cx="148132" cy="384048"/>
          </a:xfrm>
          <a:prstGeom prst="chevron">
            <a:avLst/>
          </a:prstGeom>
          <a:solidFill>
            <a:srgbClr val="E3DC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951976" y="2331720"/>
            <a:ext cx="621792" cy="621792"/>
          </a:xfrm>
          <a:prstGeom prst="ellipse">
            <a:avLst/>
          </a:prstGeom>
          <a:solidFill>
            <a:srgbClr val="EAA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1B1512"/>
                </a:solidFill>
                <a:latin typeface="Cambria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3154680"/>
            <a:ext cx="14264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1B1512"/>
                </a:solidFill>
                <a:latin typeface="Cambria"/>
              </a:rPr>
              <a:t>Termination</a:t>
            </a:r>
          </a:p>
        </p:txBody>
      </p:sp>
      <p:sp>
        <p:nvSpPr>
          <p:cNvPr id="21" name="Chevron 20"/>
          <p:cNvSpPr/>
          <p:nvPr/>
        </p:nvSpPr>
        <p:spPr>
          <a:xfrm>
            <a:off x="10000792" y="2450592"/>
            <a:ext cx="148132" cy="384048"/>
          </a:xfrm>
          <a:prstGeom prst="chevron">
            <a:avLst/>
          </a:prstGeom>
          <a:solidFill>
            <a:srgbClr val="E3DC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43032" y="2331720"/>
            <a:ext cx="621792" cy="621792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0696" y="3154680"/>
            <a:ext cx="14264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1B1512"/>
                </a:solidFill>
                <a:latin typeface="Cambria"/>
              </a:rPr>
              <a:t>Follow-Up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663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6B6259"/>
                </a:solidFill>
                <a:latin typeface="Calibri"/>
              </a:rPr>
              <a:t>You'll spend the most time in Engagement, Assessment, and Planning this semester (Modules 3–4) before moving into Implementation (Modules 5–7) and Evaluation/Termination/Follow-Up (Module 8).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1 · Week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AAA00"/>
                </a:solidFill>
                <a:latin typeface="Calibri"/>
              </a:rPr>
              <a:t>MYTH VS. REALITY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1">
                <a:solidFill>
                  <a:srgbClr val="FFFFFF"/>
                </a:solidFill>
                <a:latin typeface="Cambria"/>
              </a:rPr>
              <a:t>"You complete each GIM stage once, in order."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743200"/>
            <a:ext cx="10515600" cy="3108960"/>
          </a:xfrm>
          <a:prstGeom prst="roundRect">
            <a:avLst>
              <a:gd name="adj" fmla="val 5000"/>
            </a:avLst>
          </a:prstGeom>
          <a:solidFill>
            <a:srgbClr val="2A22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306324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EAAA00"/>
                </a:solidFill>
                <a:latin typeface="Cambria"/>
              </a:rPr>
              <a:t>Reality: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520440"/>
            <a:ext cx="97840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FFFFFF"/>
                </a:solidFill>
                <a:latin typeface="Calibri"/>
              </a:rPr>
              <a:t>Real practice loops back. You'll return to Engagement and Assessment again and again this semester — in the Engagement Simulation, First Client Case, and every agency rotation — each time with more experience behind you. That's why we keep calling it a model, not a checklist.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CUSW 403 · Module 1 · 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517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AAA00"/>
                </a:solidFill>
                <a:latin typeface="Calibri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Cambria"/>
              </a:rPr>
              <a:t>Your Pre-Practice Experience (PPE)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CUSW 403 · Module 1 ·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THE PPE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C8102E"/>
                </a:solidFill>
                <a:latin typeface="Cambria"/>
              </a:rPr>
              <a:t>Phase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6B6259"/>
                </a:solidFill>
                <a:latin typeface="Calibri"/>
              </a:rPr>
              <a:t>WEEKS 1–7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B1512"/>
                </a:solidFill>
                <a:latin typeface="Cambria"/>
              </a:rPr>
              <a:t>Engagement, Assessment &amp;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9875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1B1512"/>
                </a:solidFill>
                <a:latin typeface="Calibri"/>
              </a:rPr>
              <a:t>Skill-building through simulation and First Client Case, closing with the Benchmark Checkpoint — your gate into Phase 2.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120640"/>
            <a:ext cx="3383280" cy="32004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97680" y="5120640"/>
            <a:ext cx="3383280" cy="320040"/>
          </a:xfrm>
          <a:prstGeom prst="roundRect">
            <a:avLst>
              <a:gd name="adj" fmla="val 50000"/>
            </a:avLst>
          </a:prstGeom>
          <a:solidFill>
            <a:srgbClr val="E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55280" y="5120640"/>
            <a:ext cx="3383280" cy="320040"/>
          </a:xfrm>
          <a:prstGeom prst="roundRect">
            <a:avLst>
              <a:gd name="adj" fmla="val 50000"/>
            </a:avLst>
          </a:prstGeom>
          <a:solidFill>
            <a:srgbClr val="E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1 · Week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THE PPE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8A6D18"/>
                </a:solidFill>
                <a:latin typeface="Cambria"/>
              </a:rPr>
              <a:t>Phase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6B6259"/>
                </a:solidFill>
                <a:latin typeface="Calibri"/>
              </a:rPr>
              <a:t>WEEKS 8–13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B1512"/>
                </a:solidFill>
                <a:latin typeface="Cambria"/>
              </a:rPr>
              <a:t>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9875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1B1512"/>
                </a:solidFill>
                <a:latin typeface="Calibri"/>
              </a:rPr>
              <a:t>Supervised observation rotations: child welfare, mental health, and community organizations — 4 hrs/week each.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120640"/>
            <a:ext cx="3383280" cy="320040"/>
          </a:xfrm>
          <a:prstGeom prst="roundRect">
            <a:avLst>
              <a:gd name="adj" fmla="val 50000"/>
            </a:avLst>
          </a:prstGeom>
          <a:solidFill>
            <a:srgbClr val="E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97680" y="5120640"/>
            <a:ext cx="3383280" cy="320040"/>
          </a:xfrm>
          <a:prstGeom prst="roundRect">
            <a:avLst>
              <a:gd name="adj" fmla="val 50000"/>
            </a:avLst>
          </a:prstGeom>
          <a:solidFill>
            <a:srgbClr val="8A6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55280" y="5120640"/>
            <a:ext cx="3383280" cy="320040"/>
          </a:xfrm>
          <a:prstGeom prst="roundRect">
            <a:avLst>
              <a:gd name="adj" fmla="val 50000"/>
            </a:avLst>
          </a:prstGeom>
          <a:solidFill>
            <a:srgbClr val="E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1 · Week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THE PPE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6B6259"/>
                </a:solidFill>
                <a:latin typeface="Cambria"/>
              </a:rPr>
              <a:t>Phase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6B6259"/>
                </a:solidFill>
                <a:latin typeface="Calibri"/>
              </a:rPr>
              <a:t>WEEKS 14–15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B1512"/>
                </a:solidFill>
                <a:latin typeface="Cambria"/>
              </a:rPr>
              <a:t>Evaluation, Termination &amp; Follow-Up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9875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1B1512"/>
                </a:solidFill>
                <a:latin typeface="Calibri"/>
              </a:rPr>
              <a:t>Professional Portfolio and Field Readiness Evaluation — your certification toward CUSW 404.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120640"/>
            <a:ext cx="3383280" cy="320040"/>
          </a:xfrm>
          <a:prstGeom prst="roundRect">
            <a:avLst>
              <a:gd name="adj" fmla="val 50000"/>
            </a:avLst>
          </a:prstGeom>
          <a:solidFill>
            <a:srgbClr val="E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97680" y="5120640"/>
            <a:ext cx="3383280" cy="320040"/>
          </a:xfrm>
          <a:prstGeom prst="roundRect">
            <a:avLst>
              <a:gd name="adj" fmla="val 50000"/>
            </a:avLst>
          </a:prstGeom>
          <a:solidFill>
            <a:srgbClr val="E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55280" y="5120640"/>
            <a:ext cx="3383280" cy="320040"/>
          </a:xfrm>
          <a:prstGeom prst="roundRect">
            <a:avLst>
              <a:gd name="adj" fmla="val 50000"/>
            </a:avLst>
          </a:prstGeom>
          <a:solidFill>
            <a:srgbClr val="6B6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1 · Week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READINESS GATES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Two Gates, One Philosophy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512064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10312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WEEK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514600"/>
            <a:ext cx="4480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1B1512"/>
                </a:solidFill>
                <a:latin typeface="Cambria"/>
              </a:rPr>
              <a:t>Benchmark Checkpoint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429000"/>
            <a:ext cx="44805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6B6259"/>
                </a:solidFill>
                <a:latin typeface="Calibri"/>
              </a:rPr>
              <a:t>Clear 80% to advance to Phase 2 rotations.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828800"/>
            <a:ext cx="512064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10312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WEEK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514600"/>
            <a:ext cx="4480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1B1512"/>
                </a:solidFill>
                <a:latin typeface="Cambria"/>
              </a:rPr>
              <a:t>Field Readiness Evaluation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3429000"/>
            <a:ext cx="44805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6B6259"/>
                </a:solidFill>
                <a:latin typeface="Calibri"/>
              </a:rPr>
              <a:t>Ready / Ready with Conditions / Not Ready — your certification toward CUSW 404.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49240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6B6259"/>
                </a:solidFill>
                <a:latin typeface="Calibri"/>
              </a:rPr>
              <a:t>Both gates confirm you’re ready for what’s next. Missing one gets you a defined path forward — never a dead end.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1 · Week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AAA00"/>
                </a:solidFill>
                <a:latin typeface="Calibri"/>
              </a:rPr>
              <a:t>COMING NEXT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FFFFFF"/>
                </a:solidFill>
                <a:latin typeface="Cambria"/>
              </a:rPr>
              <a:t>Meet Your Practice Coach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E3DCCE"/>
                </a:solidFill>
                <a:latin typeface="Calibri"/>
              </a:rPr>
              <a:t>A course-specific AI assistant, available all semester.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10698480" cy="3291840"/>
          </a:xfrm>
          <a:prstGeom prst="roundRect">
            <a:avLst>
              <a:gd name="adj" fmla="val 4000"/>
            </a:avLst>
          </a:prstGeom>
          <a:solidFill>
            <a:srgbClr val="2A22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6974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EAAA00"/>
                </a:solidFill>
                <a:latin typeface="Cambria"/>
              </a:rPr>
              <a:t>Coach, not ghostwriter.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337560"/>
            <a:ext cx="9875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FFFFFF"/>
                </a:solidFill>
                <a:latin typeface="Calibri"/>
              </a:rPr>
              <a:t>It gives feedback, asks coaching questions, and points to rubric criteria. It never drafts text you submit as your own work — full introduction in Module 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CUSW 403 · Module 1 · 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DUE THIS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Orientation Quiz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10698480" cy="3840480"/>
          </a:xfrm>
          <a:prstGeom prst="roundRect">
            <a:avLst>
              <a:gd name="adj" fmla="val 4000"/>
            </a:avLst>
          </a:prstGeom>
          <a:solidFill>
            <a:srgbClr val="E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28600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B1512"/>
                </a:solidFill>
                <a:latin typeface="Cambria"/>
              </a:rPr>
              <a:t>A readiness check, not a mastery test.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971800"/>
            <a:ext cx="9601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1B1512"/>
                </a:solidFill>
                <a:latin typeface="Calibri"/>
              </a:rPr>
              <a:t>Confirms you've read the syllabus and can identify the GIM stages and the PPE phase structure before the semester's real work begins.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43484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C8102E"/>
                </a:solidFill>
                <a:latin typeface="Calibri"/>
              </a:rPr>
              <a:t>Worth: 5% of course grade   ·   Competency 1: Ethical &amp; Professional Behavior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1 · 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AAA00"/>
                </a:solidFill>
                <a:latin typeface="Calibri"/>
              </a:rPr>
              <a:t>NEXT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mbria"/>
              </a:rPr>
              <a:t>Module 2: Introduction to AI in Social Work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1">
                <a:solidFill>
                  <a:srgbClr val="E3DCCE"/>
                </a:solidFill>
                <a:latin typeface="Cambria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CUSW 403 · Module 1 · Week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